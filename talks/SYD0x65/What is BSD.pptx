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84" r:id="rId3"/>
    <p:sldMasterId id="2147483696" r:id="rId4"/>
  </p:sldMasterIdLst>
  <p:notesMasterIdLst>
    <p:notesMasterId r:id="rId64"/>
  </p:notesMasterIdLst>
  <p:handoutMasterIdLst>
    <p:handoutMasterId r:id="rId65"/>
  </p:handoutMasterIdLst>
  <p:sldIdLst>
    <p:sldId id="256" r:id="rId5"/>
    <p:sldId id="257" r:id="rId6"/>
    <p:sldId id="267" r:id="rId7"/>
    <p:sldId id="264" r:id="rId8"/>
    <p:sldId id="265" r:id="rId9"/>
    <p:sldId id="275" r:id="rId10"/>
    <p:sldId id="307" r:id="rId11"/>
    <p:sldId id="306" r:id="rId12"/>
    <p:sldId id="268" r:id="rId13"/>
    <p:sldId id="258" r:id="rId14"/>
    <p:sldId id="305" r:id="rId15"/>
    <p:sldId id="308" r:id="rId16"/>
    <p:sldId id="260" r:id="rId17"/>
    <p:sldId id="261" r:id="rId18"/>
    <p:sldId id="259" r:id="rId19"/>
    <p:sldId id="263" r:id="rId20"/>
    <p:sldId id="309" r:id="rId21"/>
    <p:sldId id="276" r:id="rId22"/>
    <p:sldId id="277" r:id="rId23"/>
    <p:sldId id="278" r:id="rId24"/>
    <p:sldId id="262" r:id="rId25"/>
    <p:sldId id="279" r:id="rId26"/>
    <p:sldId id="280" r:id="rId27"/>
    <p:sldId id="281" r:id="rId28"/>
    <p:sldId id="282" r:id="rId29"/>
    <p:sldId id="310" r:id="rId30"/>
    <p:sldId id="271" r:id="rId31"/>
    <p:sldId id="269" r:id="rId32"/>
    <p:sldId id="270" r:id="rId33"/>
    <p:sldId id="272" r:id="rId34"/>
    <p:sldId id="273" r:id="rId35"/>
    <p:sldId id="274" r:id="rId36"/>
    <p:sldId id="266" r:id="rId37"/>
    <p:sldId id="283" r:id="rId38"/>
    <p:sldId id="284" r:id="rId39"/>
    <p:sldId id="285" r:id="rId40"/>
    <p:sldId id="286" r:id="rId41"/>
    <p:sldId id="287" r:id="rId42"/>
    <p:sldId id="294" r:id="rId43"/>
    <p:sldId id="300" r:id="rId44"/>
    <p:sldId id="301" r:id="rId45"/>
    <p:sldId id="314" r:id="rId46"/>
    <p:sldId id="303" r:id="rId47"/>
    <p:sldId id="288" r:id="rId48"/>
    <p:sldId id="290" r:id="rId49"/>
    <p:sldId id="291" r:id="rId50"/>
    <p:sldId id="292" r:id="rId51"/>
    <p:sldId id="293" r:id="rId52"/>
    <p:sldId id="289" r:id="rId53"/>
    <p:sldId id="295" r:id="rId54"/>
    <p:sldId id="296" r:id="rId55"/>
    <p:sldId id="297" r:id="rId56"/>
    <p:sldId id="298" r:id="rId57"/>
    <p:sldId id="299" r:id="rId58"/>
    <p:sldId id="302" r:id="rId59"/>
    <p:sldId id="304" r:id="rId60"/>
    <p:sldId id="311" r:id="rId61"/>
    <p:sldId id="312" r:id="rId62"/>
    <p:sldId id="313" r:id="rId63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176" d="100"/>
          <a:sy n="176" d="100"/>
        </p:scale>
        <p:origin x="128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20BDA8-F334-F0FA-46E8-BF92298B7A7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98090-55B5-B9AF-5B1F-303896557091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65F37-7ADE-5C35-0B07-E484FC4F1456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8BC02-5C94-3A28-6342-AEDBABA759AF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A6D491B4-A138-4195-A03E-BAE8057C3FD1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7969569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3E78C-DC32-3177-8E0E-93BDD42491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20000" y="900000"/>
            <a:ext cx="6120000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A551E-F806-9F3F-ED34-B10E3DD04803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20000" y="4680000"/>
            <a:ext cx="6120000" cy="50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B5E1E65-058D-A622-AD36-702A76A3C71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5DCAB-385B-3487-7DA9-A6A0327462E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E799B-6E3B-98B8-9506-BB16DB00C06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DAE52-1CB1-6C5E-E0B6-7837D4CBF4D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744D64EE-F069-4D7F-9AB7-01DF029BB5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45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76E2A-E8B0-D87D-8296-BD920EF891B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DD2EE2A-1A17-4CF8-9D77-167581086874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5191BC-331B-658B-5C51-B626543C029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6221F-3235-073B-C034-950E3B48D7B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6B086-3FF0-5F44-8E83-967ADCC145E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217CC8F-54C8-473A-9362-2CE549A240C2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81BD1-63C9-89A7-B6F3-065329967C2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1D8F1-B4B2-1587-8142-0FA850F438A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>
            <a:noAutofit/>
          </a:bodyPr>
          <a:lstStyle/>
          <a:p>
            <a:pPr marL="0"/>
            <a:endParaRPr lang="en-US" dirty="0">
              <a:latin typeface="Liberation Sans" pitchFamily="1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744D64EE-F069-4D7F-9AB7-01DF029BB5D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16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13C8E-299F-0387-7174-A8FCA9A0CD9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8E3C192-BA94-439D-A667-D9C47617A96B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28EEF-1591-D238-A8ED-CAF883548B8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47109-A15C-0FA3-3E57-CFA4ED307D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 compatLnSpc="1">
            <a:noAutofit/>
          </a:bodyPr>
          <a:lstStyle/>
          <a:p>
            <a:pPr marL="0" indent="0" algn="l" hangingPunct="1"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Fist four nodes were UCLA, UCSB, SRI, </a:t>
            </a:r>
            <a:r>
              <a:rPr lang="en-US" sz="1200" dirty="0" err="1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UofUtah</a:t>
            </a:r>
            <a:endParaRPr lang="en-US" sz="1200" dirty="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  <a:p>
            <a:pPr marL="0" indent="0" algn="l" hangingPunct="1"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dirty="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DD6-3116-6EC3-7B8A-B90867010BD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F6BF60A-3AA7-4369-ACF2-6D5ED3BF6CEA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F1137-F837-F576-5042-EB9EC5E88E0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E6BC59-08FF-13E7-EE3A-D10216C30AC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 compatLnSpc="1">
            <a:noAutofit/>
          </a:bodyPr>
          <a:lstStyle/>
          <a:p>
            <a:pPr marL="0" indent="0" algn="l" hangingPunct="1"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47434-8292-08EB-17C6-C44A4DEFFA2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7DE3BA6-805D-49AC-B8A9-D9C4AB2A61B5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BC91D4-DFF5-302B-0411-579991DBB32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32815-3126-8428-CE81-BBF6B0D76B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37F06B-2FE5-AC20-F4A9-0BA66E3C91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355F120-F775-481D-A16B-58562BA0010F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E98AB0-27E6-6CBA-3A7F-993F6F6F76D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A8F3C-B56B-0B54-9ABB-3F3FC4B955F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248C4-6795-4F33-4D0F-F01E3B26DFF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953910C-CDAE-4463-A7A7-4EB68978F8CE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D8C481-C6EB-9301-24F3-FC3F743EE0B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4B765-186A-8ED0-E57E-F2115C2FAB2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C2B1F-2CA0-F87B-263E-54A5CE00DB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0A90A0A-2F9C-4A3E-8D16-2D98444523ED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6ACE8-3094-D871-D928-172CDA2E12C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9F032-5203-C416-7F05-B9D3183FAF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19401-6243-4D27-610F-B9E2B1E408D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3A9C08E-FCCA-4D3D-9C4E-D5531034BEEA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6C7AD-32A0-081E-FB10-F425374B78F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5C613-EF63-A3EA-C48E-45106BC943D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EE552-FC75-3051-C86F-2351A075E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22612-9459-2C81-D3F0-113440E535B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3A9C08E-FCCA-4D3D-9C4E-D5531034BEEA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624D0-69DC-18B1-E5F9-410E71D26D5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5A34D-631A-C6CB-4E3B-9797E9AD584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72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D4DD66-7160-B8B3-8CAB-9D58B3813D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E9AD749-301D-4C01-BFEF-894502E5236B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0736F-6674-8810-6994-052E479B755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720725" y="900113"/>
            <a:ext cx="6119813" cy="34417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9AA91-5FDB-181A-01F5-FD22869C59F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no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4429E-9DC2-62DE-1AA8-E244FD5DB9F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C31585E-11E2-477E-AC1F-BDB5235314E9}" type="slidenum">
              <a:t>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8F6CD-3C42-9E65-DB58-FD1F5700A05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52F89-768D-D178-879F-B977F8471D0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799" y="4343400"/>
            <a:ext cx="5486040" cy="4114440"/>
          </a:xfrm>
        </p:spPr>
        <p:txBody>
          <a:bodyPr vert="horz" compatLnSpc="1">
            <a:noAutofit/>
          </a:bodyPr>
          <a:lstStyle/>
          <a:p>
            <a:pPr marL="0" indent="0" algn="l" hangingPunct="1">
              <a:spcBef>
                <a:spcPts val="451"/>
              </a:spcBef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>
              <a:solidFill>
                <a:srgbClr val="000000"/>
              </a:solidFill>
              <a:latin typeface="Times New Roman" pitchFamily="18"/>
              <a:cs typeface="Times New Roman" pitchFamily="1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C6481-CEDA-74A3-7CD9-825F5C9EC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73AC9-061A-9513-3722-EE016C3D4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99BD-AE69-E4CB-D953-84E2AEA1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93C43-DA7A-09BF-46A1-761F64E13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3690E-D74F-6A9B-595C-0FCFECEB4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E0C86B-5FC0-4AEB-8918-AEAE7BD70BF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2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F0D8-F207-B551-D36C-C541F175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C0FAC-2353-0EF4-EB63-FC8986A30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BD071-2BA2-44FB-5943-FEB0FFB1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80288-2A0C-7927-A348-1B6A9DC8E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4AC46-EF85-C42C-5E06-5EA003EAF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1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B611-032A-2268-EBA2-9B6A9A6E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42329-E07E-AC6D-1F03-5A2C5F4C0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E2CC7-806E-571D-092B-335EF46D8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1760E-6FDF-349C-A31E-0B3ABA47A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2FCEB-AB9E-1DD5-3D61-667FCFFB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472AB42-4BB6-47BD-823D-920936D112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3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EC46-B030-5721-7541-89198AC46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62062-C039-BCDB-ABFE-1BAD91E77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19C33-1D34-16D2-7438-FAA3EA567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1BBDF-291F-2842-68F7-091EAE7E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CAA23-138B-863F-1AA9-11EFFAC5A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9455D-FA66-69C0-E81B-10B1A640A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851724-9B84-4729-B93B-118CC2F521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5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0668A-8A40-9807-D40E-1F17DA433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4E5A-7D0E-4035-A34A-DAB358632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B9771-2F38-5469-3D81-B9376BCBB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2FC9BF-85C5-488D-F509-0B2F9005A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E70D4B-9F9B-F438-08E1-BF1FA2D2E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52A97-FDBD-8B44-80A5-0D3A52F0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8F8D6-DFB3-4C42-472E-1E138B76D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C1EB2A-45E1-542C-0F54-7219A0E5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99EAFA4-7004-444A-A0B4-2CAF3957D1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69003-0CE6-B731-E031-AC6BF2E1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A19D64-FBCF-50BB-F3BA-F745F0F4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EC463-7282-7934-3A96-23E1ECF3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5DB3EE-314D-23C6-492D-B947561D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B53777A-3017-4F36-BD40-93FF9845EE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59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025AA-22E4-E3B1-0473-0E0EA01D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3405DE-98E5-E6BA-B527-C34EE660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C4154-BADD-98A0-91E1-33CE22B8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D9E062-4EE0-4704-A404-54AC5DACF5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02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23B1-2A76-7C0A-9115-543F7461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CDF6-7E7D-39B8-82A5-CBB44265B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5A4DF9-1BFF-35CD-A2EC-B2B84890D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DEC4A-9A9F-A27D-A808-A9C8AD22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A7979-E2CA-33A9-8427-0AEA9B8C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8BB1E-981E-3735-2548-2EE5DEA5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8C2DA9C-462E-43DA-A0F3-07B82B9C8E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31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D1D48-9324-90B8-02C5-3F6A3DB18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0D63F1-3772-94F8-5CC3-EEFDBCA24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79806-7B12-36DC-F109-89295AF9D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84518-C8E0-F63B-EF28-F584F61DD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1081F4-9A93-A2A9-3968-B5DA2FE6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DC98D-D6E3-6310-1586-72762BF3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10C6A84-04FB-4F8B-8EBC-EDFCC3DB74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1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5850-8DB3-17EF-73F6-C32F5FCE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32D15-7867-0679-0F21-81F61C379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365D-AC12-3304-241C-FE3B4196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60D85-970B-DBAF-C598-7A4663BC3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9B565-A57F-FF88-6229-30FC8F3E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61838A-420A-4E1D-8024-045B5F0AE5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07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DFE94-979E-50A9-60E4-298C3853CF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99325" y="71438"/>
            <a:ext cx="2384425" cy="4543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548A6-44AE-44B9-76BF-3CCD425E2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4463" y="71438"/>
            <a:ext cx="7002462" cy="4543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40F79-C60A-2056-C3B8-DAD24EB5D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283E6-AAEC-08F2-F4A3-E1B47B0BA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614B1-4D1E-4F1C-DDD8-F3B2570D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434D4CE-4829-4CB0-8A4F-35860CB2544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49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1D85-9273-9AE1-15AA-4B9851182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ED777-29B4-E96A-6B2F-8D1253BD3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EE63B-F533-A92B-E144-59DE2E257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32E65-96D1-F7B3-3CF0-4A507F88D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4F2A3-4F9C-B74A-2815-452767188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6024F6B-8EDF-4DDB-A8B5-A9FD070228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38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C0C66-9FA6-88E6-C520-E4D3402B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0A437-1512-7B96-A908-35FA7504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D22C8-E843-E352-85D9-D94B1585A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1A691-C607-93DD-C0E2-4A2559985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CDDE5-4684-5917-247B-AD68DECE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01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569B4-57C2-6CB5-D6D7-10B4B3D96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6ADD4-EB33-0BD7-68CB-FCC918AA2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6015A-A5B6-EBB6-9BD5-9854F680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3D4CC-3AD6-1D80-90AC-A2264DCD6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6EB40-FD22-4DDB-9720-8467A3A0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852280-FE60-4F24-A981-E109B83974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344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76E3B-440B-40E5-D84A-EBBE0636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BADD8-4B77-6BC4-8FCA-FFD80639A0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5C127-46AF-A719-AD7B-100F7E555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69281-5566-CE25-6B50-AA22E78B2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04011-45F1-5C59-A6E4-A45486D1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71D05-8C1C-D384-1DDF-8C8D74CB1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27A1034-61CB-48C1-8EF1-296586BD77F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48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E1C3-7AAA-119C-B94F-8D750816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3688F-5277-34F9-9BAE-5F66B2F21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EA526-D214-56B7-7993-3157D0A68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3131CC-46B5-D166-BB22-52D9E582D7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0C1827-5E62-F7D3-5C98-FF8ADB9AF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5B80F3-F9DD-0399-1B00-7B7A3EA3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266ED5-3A1B-BC6A-3EB7-80B629280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406FC2-D3CE-659C-24C1-A769C88BE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0B627DE-BCB6-4366-9FB2-69091C19025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62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E588B-3911-656D-6CAE-FA3B099DA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039661-72CE-7DF7-7E8D-D72D5078C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5C3337-0F6C-4B0B-EB14-D5477622E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90F0E-F6C8-CAF9-03F8-1710E6D3C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92D958F-509A-44D6-A702-83A4C93222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1948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81FC8-7F79-141E-4195-D19A4FE6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C57220-5A9E-C95D-4496-EA412D67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0AFF7-6E22-A5B3-D504-D28973105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675CC2E-69DE-45EB-AEC8-3D0B794153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71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690B-EDFE-4A49-091A-0886FCB3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B57AE-96A5-FBE4-52C7-8D8C67318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B132A-F02D-0B73-CCBE-3B6CA7BAD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06C14-BA23-6699-00A0-45ADB385B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66DA7-5557-6A3F-FCE6-57A0C311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9B052-E681-83C4-ADEE-F3C4B699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285D10D-8977-4940-8D73-2F9E4D9BC8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28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F881C-DF9F-7B7F-49F8-D99AAB5D5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8D7548-5E30-7997-02E1-7587DD680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A5A24-614E-E853-2D9F-6B493E91D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DCE0AC-4629-8C39-1415-F94A2489C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FE438-4607-781F-A608-699D520E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CE3BA5-47E3-F79A-F5BA-F87AAACB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A0C4D3-9054-40BE-91A8-897B0893FDF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40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8C4E-D6D9-4E4B-5C75-11D4EEF12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38B52-139A-3749-A74D-CAE4840AB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3224E-858C-0079-043E-8181EDF8D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B40E3-D1BF-EC08-8BA9-C61A44D6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423A6-4CC5-8C4F-8A2F-A6E841465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FB3C61-1C35-4C7E-96A0-39131934B5C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1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7761C-4349-D0B0-4ACA-3201B3960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99325" y="71438"/>
            <a:ext cx="2384425" cy="4543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982A4A-086D-0C95-2E60-68D62CE41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4463" y="71438"/>
            <a:ext cx="7002462" cy="4543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294BD-D7E2-2D7E-DDB0-CE9A71E5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9467F-5CBB-89E0-712A-90C4BD2C4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09310-2B3D-06BA-8AD1-C35873DD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232C03-B596-4742-AB2A-681B253C6E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820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931F-A1B4-29C9-CA81-092A1A3EF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DD462-A7BE-E98C-2F69-E21F8EB50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5EB5A-DE75-AC54-3D6E-D6C1E3E8F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6D28A-1823-446C-2078-5FF6CC8AA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CE6F7-6AF7-9C47-35D8-D7934FD8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CECF083-B0DD-47DE-B33E-27FFB0BF1C8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556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1EAB-3A11-F67F-19CC-0ACDA099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A067B-AA05-F28E-8B81-C85F8028F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D81F8-DEB5-0313-68A2-9AB581A75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B901F-4758-A634-D64F-AF3EE93B3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97058-F3FF-12C3-1860-7A4CA8639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B45E428-A168-4B84-B938-B050DF00CCA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105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3E31-3032-7836-B3E0-8B36C36E9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66A6D-4227-4C6E-1EEA-B238C0EFA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E8AC6-255B-3DEB-FE4A-FCE321F8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24A10-CF41-7949-6378-0F1F9E501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DDCD21-DCA2-786D-86EE-9B7A3527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D74E59C-2B36-4F76-9269-0F94F514F30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9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4B309-6C3A-1BF6-4AD5-591AC9BE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C7687-0E14-A993-BDAB-1A72C90FF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2388"/>
            <a:ext cx="4459287" cy="3741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F18CEA-B004-31E4-9633-39EC47622C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2388"/>
            <a:ext cx="4460875" cy="37417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C627E6-17DE-6378-29E3-5717D8FC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BC12E-C818-DDDB-A642-90B095FCB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B1B44-62C0-93E4-A50F-8B73F57CF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55EC9FD-07A7-480B-A840-A5B6EE2A12C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30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BCFC-0257-213E-916C-A6A92471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DEC56-2F1D-5B3D-5054-6C7369503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77926-645D-40A8-A6A1-CB9CC676CF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A1296-5B03-5599-1B83-12E0E3426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675EC8-93F8-5029-8AE9-9B6A15D14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8C77DF-075D-F325-3708-E7944237F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18E05D-EA0A-796F-0A46-F6960DBB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C931ED-7EC6-61FD-B3ED-82A74977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F78E775-F21B-4EEB-AE71-77506CC60D1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980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CC72B-3504-1F72-4F0A-44816BA06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346080-6648-C30B-7C76-D15F68741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106D8-55FF-6C85-3DE3-0D7966199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DCA32B-256F-5365-3CF4-BEEB2C1E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BB384EA-C9EB-4B20-AB1C-471640D411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539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30C32-1B8E-05CD-0A6E-A5E60BB4C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CA37C4-7ADD-D28F-B926-897442C8C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7A166-3AC5-23A2-6EFD-E2177DDF5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36241D8-DCF7-4AC8-885A-8C64E53E67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269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674A9-A6C9-8F00-9108-6B91FD876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D46E8-518A-2924-4858-A39764D6C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1E94C-CF6D-7935-D73F-BB393482A5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2D4E8-633E-D66B-7CCC-FF8E49924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13501-5566-4425-D222-4DEB2C42F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4D903-FED1-BBB7-C5A0-A2485BD46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6A2DB95-F227-4935-AE24-A899035632D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515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D6AD8-672B-8D2D-2AB5-D795EBCE4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BFDE47-5B4C-83DC-283C-6065F4849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1C494-7ED3-A7CA-6AE8-E2564AD18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4B95CD-97BF-4860-77CC-A2E41FD9F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4B327-5185-241F-760D-356946AD2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F05CC-9B50-494F-0988-FE66CEB8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ED76E1D-F340-42BE-9669-4401DB16F0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92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90F36-7F6A-3B13-B9F5-F285E6BAE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8C354-C51A-DD07-F670-51A2F011F4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677FB-5544-7F53-1C43-1474505B5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38AF8-3C52-2369-C3BA-7DB3EA8A1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09ACD-64E7-5E44-F2A5-0733CEF4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8DCB67D-A6F9-4273-9D92-E645140A19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280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D335EA-5FA9-CDF6-808E-F52293CE9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7013"/>
            <a:ext cx="2266950" cy="4837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ACEFD-998A-0C24-B4FC-99A634963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7013"/>
            <a:ext cx="6653212" cy="4837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72F1C-C8C6-A92B-91D9-1D8126E46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D4014-34B1-A203-CBE1-B05F904AC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76017-8B33-791C-1F9B-54CCA624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51013B7-AA1F-4414-8A9D-ED8671F7667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499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9B72-F23B-A466-8648-689158B33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AC459-AF0F-5936-D49C-5D568DE4C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72714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D901-B5B6-7B9F-DF4E-B88B4DD0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CFE3B-2411-C711-F8F6-47203857F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4563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41BC-0D7B-0231-B8AC-07E527B29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2F698-60E6-78A5-789D-8B3D666F6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81223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BC55D-50CC-EB78-FFCE-20A00A81C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4BE40-EF90-B29C-2816-75119D23D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4459287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8B6AD-39B7-8805-5314-12F74E544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327150"/>
            <a:ext cx="4460875" cy="32877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29616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73E7-1568-D3FE-DE0E-6FEA8D3F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D0107-0F73-6346-8B31-0320A37CA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510DB-E1CA-BB85-5407-B7E68F135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8BBA62-53E4-8953-6A3F-97479A69D8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5F33C-158D-AF79-1161-A8724821B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28175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2DDD-A9DD-2EF5-ABFA-7E3B78780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01414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9186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64BBA-40EB-205E-5460-D7074661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82BE1-D7D0-E4B5-A18B-A42A1361E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BFF86-3B05-639B-19A7-E1D7DFA1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01421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3206-625B-44CD-889E-34A709D0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1F181-8DA9-F336-50C6-8BB055B53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04D18-A46F-AAF6-AE27-5F81D0CD2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91870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51EDA-5DFF-B7D0-AC2C-D7D9F89E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5779A-626E-C265-30BF-CD90E0B8A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199355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407DE7-F2D1-C7DE-96AB-B0BD4868AA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225425"/>
            <a:ext cx="2266950" cy="43894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EDB4B-F6F3-12A3-BE1A-C510F6D6B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225425"/>
            <a:ext cx="6653212" cy="43894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897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DB39B-42FA-DA45-E07A-52F448C4A0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9CAA8-0627-1A73-2907-0A39A24119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200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78F6B-D9AD-C402-41CB-D276D577DE4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256000"/>
            <a:ext cx="1655999" cy="410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509DD-CE60-DEED-77D8-7D337EB8BA1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ct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4BE99-B328-DA00-CE24-22A00C9BF2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698DA626-364F-48BE-B7EF-FF44B6FEF1FC}" type="slidenum"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28651A5-99CF-5057-5032-E70C3A4EAB22}"/>
              </a:ext>
            </a:extLst>
          </p:cNvPr>
          <p:cNvSpPr/>
          <p:nvPr/>
        </p:nvSpPr>
        <p:spPr>
          <a:xfrm>
            <a:off x="20880" y="607320"/>
            <a:ext cx="6120000" cy="180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4860000"/>
          </a:gra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5865DEF-CDD0-A8DC-25FA-7D352BD32F6B}"/>
              </a:ext>
            </a:extLst>
          </p:cNvPr>
          <p:cNvSpPr/>
          <p:nvPr/>
        </p:nvSpPr>
        <p:spPr>
          <a:xfrm>
            <a:off x="4430520" y="840959"/>
            <a:ext cx="5673960" cy="72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4860000"/>
          </a:gra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472A067-7B90-D6A1-B7B9-801AAFFF269D}"/>
              </a:ext>
            </a:extLst>
          </p:cNvPr>
          <p:cNvSpPr/>
          <p:nvPr/>
        </p:nvSpPr>
        <p:spPr>
          <a:xfrm>
            <a:off x="9819720" y="474480"/>
            <a:ext cx="7200" cy="4932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CCCCC"/>
          </a:soli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F1120A-42A2-D23C-8E5E-4346D272CAAE}"/>
              </a:ext>
            </a:extLst>
          </p:cNvPr>
          <p:cNvSpPr/>
          <p:nvPr/>
        </p:nvSpPr>
        <p:spPr>
          <a:xfrm>
            <a:off x="1900800" y="5204880"/>
            <a:ext cx="7465320" cy="72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4860000"/>
          </a:gra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0623E49-3E97-971D-FBD7-175FB3066B23}"/>
              </a:ext>
            </a:extLst>
          </p:cNvPr>
          <p:cNvSpPr/>
          <p:nvPr/>
        </p:nvSpPr>
        <p:spPr>
          <a:xfrm>
            <a:off x="9259920" y="4917240"/>
            <a:ext cx="7200" cy="3495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CCCCC"/>
          </a:soli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30D933-E2F6-31FA-B9F3-27196C30C3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000" y="72000"/>
            <a:ext cx="9540000" cy="64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BEAFB-D5FD-D27D-AB50-6BB57968D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2000" cy="3288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0894F-6690-EADF-D59C-6F7DE722087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256000"/>
            <a:ext cx="1655999" cy="410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65CA8-D41F-70C2-5B60-A177299F22E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2520000" y="5256000"/>
            <a:ext cx="4680000" cy="410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ct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5EBA6-93C9-2FEA-162A-8970C1645BC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60000" y="5256000"/>
            <a:ext cx="1620000" cy="4104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/>
          <a:lstStyle>
            <a:lvl1pPr lvl="0" algn="r" rtl="0" hangingPunct="0">
              <a:buNone/>
              <a:tabLst/>
              <a:defRPr lang="en-US" sz="1400" kern="1200">
                <a:latin typeface="Liberation Sans" pitchFamily="34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A0A34413-0B07-421A-846D-50C88AE765A6}" type="slidenum"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DEE0AB-8862-7458-D160-F94F51BE10FA}"/>
              </a:ext>
            </a:extLst>
          </p:cNvPr>
          <p:cNvSpPr/>
          <p:nvPr/>
        </p:nvSpPr>
        <p:spPr>
          <a:xfrm>
            <a:off x="20880" y="607320"/>
            <a:ext cx="6120000" cy="180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CCCCCC"/>
              </a:gs>
              <a:gs pos="100000">
                <a:srgbClr val="333333"/>
              </a:gs>
            </a:gsLst>
            <a:lin ang="4860000"/>
          </a:gra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B155376-CD62-19E8-6F8A-7A940D17B6C4}"/>
              </a:ext>
            </a:extLst>
          </p:cNvPr>
          <p:cNvSpPr/>
          <p:nvPr/>
        </p:nvSpPr>
        <p:spPr>
          <a:xfrm>
            <a:off x="4430520" y="840959"/>
            <a:ext cx="5673960" cy="72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4860000"/>
          </a:gra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03488E3-3308-2781-E1CA-814FC7730BBD}"/>
              </a:ext>
            </a:extLst>
          </p:cNvPr>
          <p:cNvSpPr/>
          <p:nvPr/>
        </p:nvSpPr>
        <p:spPr>
          <a:xfrm>
            <a:off x="9819720" y="474480"/>
            <a:ext cx="7200" cy="4932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CCCCC"/>
          </a:soli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22F1D37-7384-6AD3-24BE-0334185106D7}"/>
              </a:ext>
            </a:extLst>
          </p:cNvPr>
          <p:cNvSpPr/>
          <p:nvPr/>
        </p:nvSpPr>
        <p:spPr>
          <a:xfrm>
            <a:off x="5644080" y="5194800"/>
            <a:ext cx="3722040" cy="72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4860000"/>
          </a:gra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5754AF-0ECE-6541-BAEF-4E5896CD8CA6}"/>
              </a:ext>
            </a:extLst>
          </p:cNvPr>
          <p:cNvSpPr/>
          <p:nvPr/>
        </p:nvSpPr>
        <p:spPr>
          <a:xfrm>
            <a:off x="9259920" y="4917240"/>
            <a:ext cx="7200" cy="3495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CCCCC"/>
          </a:soli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21C9CCC-789D-1898-A71B-5B2072A678EC}"/>
              </a:ext>
            </a:extLst>
          </p:cNvPr>
          <p:cNvSpPr/>
          <p:nvPr/>
        </p:nvSpPr>
        <p:spPr>
          <a:xfrm>
            <a:off x="974160" y="5194440"/>
            <a:ext cx="3722040" cy="72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333333"/>
              </a:gs>
              <a:gs pos="100000">
                <a:srgbClr val="CCCCCC"/>
              </a:gs>
            </a:gsLst>
            <a:lin ang="4860000"/>
          </a:gra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3A19C63-13EA-0541-F0DD-780CCDF99853}"/>
              </a:ext>
            </a:extLst>
          </p:cNvPr>
          <p:cNvSpPr/>
          <p:nvPr/>
        </p:nvSpPr>
        <p:spPr>
          <a:xfrm>
            <a:off x="4590000" y="4914000"/>
            <a:ext cx="7200" cy="34956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CCCCCC"/>
          </a:soli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9E52D23-CC66-2793-E6B8-29CBD910836E}"/>
              </a:ext>
            </a:extLst>
          </p:cNvPr>
          <p:cNvSpPr/>
          <p:nvPr/>
        </p:nvSpPr>
        <p:spPr>
          <a:xfrm>
            <a:off x="5055480" y="1037159"/>
            <a:ext cx="10800" cy="3700800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gradFill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>
            <a:noFill/>
            <a:prstDash val="solid"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1D99-2FB4-35A5-08E8-C42E405329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800"/>
            <a:ext cx="9071640" cy="944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2FE11-0A35-2BFA-FEAE-FD0647E51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3000"/>
            <a:ext cx="9071640" cy="3741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98C4A-6476-0BDC-11BB-5B9A6884A8C5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5255280"/>
            <a:ext cx="2351880" cy="301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ADBB4-211B-E3C2-D05C-D6EFD372719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3760" y="5255280"/>
            <a:ext cx="3191400" cy="301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4DFD6-B285-DE23-DB66-A845AA023EC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3760" y="5255280"/>
            <a:ext cx="2351880" cy="3016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ln>
                  <a:noFill/>
                </a:ln>
                <a:solidFill>
                  <a:srgbClr val="8B8B8B"/>
                </a:solidFill>
                <a:highlight>
                  <a:scrgbClr r="0" g="0" b="0">
                    <a:alpha val="0"/>
                  </a:scrgbClr>
                </a:highlight>
                <a:latin typeface="Calibri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78837472-DA03-477D-AF1E-6B4539E37852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marL="0" marR="0" lvl="0" indent="0" algn="ctr" rtl="0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ln>
            <a:noFill/>
          </a:ln>
          <a:solidFill>
            <a:srgbClr val="FFFF00"/>
          </a:solidFill>
          <a:highlight>
            <a:scrgbClr r="0" g="0" b="0">
              <a:alpha val="0"/>
            </a:scrgbClr>
          </a:highlight>
          <a:latin typeface="Calibri"/>
          <a:ea typeface="DejaVu Sans" pitchFamily="2"/>
          <a:cs typeface="DejaVu Sans" pitchFamily="2"/>
        </a:defRPr>
      </a:lvl1pPr>
    </p:titleStyle>
    <p:bodyStyle>
      <a:lvl1pPr marL="0" marR="0" lvl="0" indent="0" algn="l" rtl="0" hangingPunct="1">
        <a:lnSpc>
          <a:spcPct val="100000"/>
        </a:lnSpc>
        <a:spcBef>
          <a:spcPts val="641"/>
        </a:spcBef>
        <a:spcAft>
          <a:spcPts val="0"/>
        </a:spcAft>
        <a:buClr>
          <a:srgbClr val="FFFF00"/>
        </a:buClr>
        <a:buSzPct val="100000"/>
        <a:buFont typeface="Arial" pitchFamily="34"/>
        <a:buChar char="•"/>
        <a:tabLst/>
        <a:defRPr lang="en-US" sz="3200" b="0" i="0" u="none" strike="noStrike" kern="1200" cap="none" spc="0" baseline="0">
          <a:ln>
            <a:noFill/>
          </a:ln>
          <a:solidFill>
            <a:srgbClr val="FFFF00"/>
          </a:solidFill>
          <a:highlight>
            <a:scrgbClr r="0" g="0" b="0">
              <a:alpha val="0"/>
            </a:scrgbClr>
          </a:highlight>
          <a:latin typeface="Calibri"/>
          <a:ea typeface="DejaVu Sans" pitchFamily="2"/>
          <a:cs typeface="DejaVu Sans" pitchFamily="2"/>
        </a:defRPr>
      </a:lvl1pPr>
      <a:lvl2pPr marL="0" marR="0" lvl="1" indent="0" algn="l" rtl="0" hangingPunct="1">
        <a:lnSpc>
          <a:spcPct val="100000"/>
        </a:lnSpc>
        <a:spcBef>
          <a:spcPts val="561"/>
        </a:spcBef>
        <a:spcAft>
          <a:spcPts val="0"/>
        </a:spcAft>
        <a:buClr>
          <a:srgbClr val="FFFF00"/>
        </a:buClr>
        <a:buSzPct val="100000"/>
        <a:buFont typeface="Arial" pitchFamily="34"/>
        <a:buChar char="–"/>
        <a:tabLst/>
        <a:defRPr lang="en-US" sz="2800" b="0" i="0" u="none" strike="noStrike" kern="1200" cap="none" spc="0" baseline="0">
          <a:ln>
            <a:noFill/>
          </a:ln>
          <a:solidFill>
            <a:srgbClr val="FFFF00"/>
          </a:solidFill>
          <a:highlight>
            <a:scrgbClr r="0" g="0" b="0">
              <a:alpha val="0"/>
            </a:scrgbClr>
          </a:highlight>
          <a:latin typeface="Calibri"/>
          <a:ea typeface="DejaVu Sans" pitchFamily="2"/>
          <a:cs typeface="DejaVu Sans" pitchFamily="2"/>
        </a:defRPr>
      </a:lvl2pPr>
      <a:lvl3pPr marL="0" marR="0" lvl="2" indent="0" algn="l" rtl="0" hangingPunct="1">
        <a:lnSpc>
          <a:spcPct val="100000"/>
        </a:lnSpc>
        <a:spcBef>
          <a:spcPts val="479"/>
        </a:spcBef>
        <a:spcAft>
          <a:spcPts val="0"/>
        </a:spcAft>
        <a:buClr>
          <a:srgbClr val="FFFF00"/>
        </a:buClr>
        <a:buSzPct val="100000"/>
        <a:buFont typeface="Arial" pitchFamily="34"/>
        <a:buChar char="•"/>
        <a:tabLst/>
        <a:defRPr lang="en-US" sz="2400" b="0" i="0" u="none" strike="noStrike" kern="1200" cap="none" spc="0" baseline="0">
          <a:ln>
            <a:noFill/>
          </a:ln>
          <a:solidFill>
            <a:srgbClr val="FFFF00"/>
          </a:solidFill>
          <a:highlight>
            <a:scrgbClr r="0" g="0" b="0">
              <a:alpha val="0"/>
            </a:scrgbClr>
          </a:highlight>
          <a:latin typeface="Calibri"/>
          <a:ea typeface="DejaVu Sans" pitchFamily="2"/>
          <a:cs typeface="DejaVu Sans" pitchFamily="2"/>
        </a:defRPr>
      </a:lvl3pPr>
      <a:lvl4pPr marL="0" marR="0" lvl="3" indent="0" algn="l" rtl="0" hangingPunct="1">
        <a:lnSpc>
          <a:spcPct val="100000"/>
        </a:lnSpc>
        <a:spcBef>
          <a:spcPts val="400"/>
        </a:spcBef>
        <a:spcAft>
          <a:spcPts val="0"/>
        </a:spcAft>
        <a:buClr>
          <a:srgbClr val="FFFF00"/>
        </a:buClr>
        <a:buSzPct val="100000"/>
        <a:buFont typeface="Arial" pitchFamily="34"/>
        <a:buChar char="–"/>
        <a:tabLst/>
        <a:defRPr lang="en-US" sz="2000" b="0" i="0" u="none" strike="noStrike" kern="1200" cap="none" spc="0" baseline="0">
          <a:ln>
            <a:noFill/>
          </a:ln>
          <a:solidFill>
            <a:srgbClr val="FFFF00"/>
          </a:solidFill>
          <a:highlight>
            <a:scrgbClr r="0" g="0" b="0">
              <a:alpha val="0"/>
            </a:scrgbClr>
          </a:highlight>
          <a:latin typeface="Calibri"/>
          <a:ea typeface="DejaVu Sans" pitchFamily="2"/>
          <a:cs typeface="DejaVu Sans" pitchFamily="2"/>
        </a:defRPr>
      </a:lvl4pPr>
      <a:lvl5pPr marL="0" marR="0" lvl="4" indent="0" algn="l" rtl="0" hangingPunct="1">
        <a:lnSpc>
          <a:spcPct val="100000"/>
        </a:lnSpc>
        <a:spcBef>
          <a:spcPts val="400"/>
        </a:spcBef>
        <a:spcAft>
          <a:spcPts val="0"/>
        </a:spcAft>
        <a:buClr>
          <a:srgbClr val="FFFF00"/>
        </a:buClr>
        <a:buSzPct val="100000"/>
        <a:buFont typeface="Arial" pitchFamily="34"/>
        <a:buChar char="»"/>
        <a:tabLst/>
        <a:defRPr lang="en-US" sz="2000" b="0" i="0" u="none" strike="noStrike" kern="1200" cap="none" spc="0" baseline="0">
          <a:ln>
            <a:noFill/>
          </a:ln>
          <a:solidFill>
            <a:srgbClr val="FFFF00"/>
          </a:solidFill>
          <a:highlight>
            <a:scrgbClr r="0" g="0" b="0">
              <a:alpha val="0"/>
            </a:scrgbClr>
          </a:highlight>
          <a:latin typeface="Calibri"/>
          <a:ea typeface="DejaVu Sans" pitchFamily="2"/>
          <a:cs typeface="DejaVu Sans" pitchFamily="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2FE15-ECBB-5B9A-D8BD-8415421CAC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ctr" anchorCtr="0" compatLnSpc="1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DDAD8-16AC-365A-486D-9D8F5EB17B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326600"/>
            <a:ext cx="9071640" cy="3288239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marL="0" marR="0" indent="0" algn="ctr" rtl="0" hangingPunct="1">
        <a:lnSpc>
          <a:spcPct val="100000"/>
        </a:lnSpc>
        <a:spcBef>
          <a:spcPts val="0"/>
        </a:spcBef>
        <a:spcAft>
          <a:spcPts val="0"/>
        </a:spcAft>
        <a:tabLst>
          <a:tab pos="0" algn="l"/>
          <a:tab pos="914400" algn="l"/>
          <a:tab pos="1828800" algn="l"/>
          <a:tab pos="2743199" algn="l"/>
          <a:tab pos="3657600" algn="l"/>
          <a:tab pos="4572000" algn="l"/>
          <a:tab pos="5486399" algn="l"/>
          <a:tab pos="6400799" algn="l"/>
          <a:tab pos="7315200" algn="l"/>
          <a:tab pos="8229600" algn="l"/>
          <a:tab pos="9144000" algn="l"/>
          <a:tab pos="10058400" algn="l"/>
        </a:tabLst>
        <a:defRPr lang="en-US" sz="4400" b="0" i="0" u="none" strike="noStrike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Times New Roman" pitchFamily="18"/>
          <a:cs typeface="Times New Roman" pitchFamily="18"/>
        </a:defRPr>
      </a:lvl1pPr>
    </p:titleStyle>
    <p:bodyStyle>
      <a:lvl1pPr marL="0" marR="0" indent="0" algn="l" rtl="0" hangingPunct="1">
        <a:lnSpc>
          <a:spcPct val="100000"/>
        </a:lnSpc>
        <a:spcBef>
          <a:spcPts val="799"/>
        </a:spcBef>
        <a:spcAft>
          <a:spcPts val="0"/>
        </a:spcAft>
        <a:tabLst>
          <a:tab pos="914400" algn="l"/>
          <a:tab pos="1828800" algn="l"/>
          <a:tab pos="2743199" algn="l"/>
          <a:tab pos="3657600" algn="l"/>
          <a:tab pos="4572000" algn="l"/>
          <a:tab pos="5486399" algn="l"/>
          <a:tab pos="6400799" algn="l"/>
          <a:tab pos="7315200" algn="l"/>
          <a:tab pos="8229600" algn="l"/>
          <a:tab pos="9144000" algn="l"/>
          <a:tab pos="10058400" algn="l"/>
        </a:tabLst>
        <a:defRPr lang="en-US" sz="3200" b="0" i="0" u="none" strike="noStrike" cap="none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Times New Roman" pitchFamily="18"/>
          <a:cs typeface="Times New Roman" pitchFamily="1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/index.php?title=HardenedBSD&amp;action=edit&amp;redlink=1" TargetMode="External"/><Relationship Id="rId3" Type="http://schemas.openxmlformats.org/officeDocument/2006/relationships/hyperlink" Target="https://en.wikipedia.org/wiki/List_of_BSD_operating_systems#cite_note-1" TargetMode="External"/><Relationship Id="rId7" Type="http://schemas.openxmlformats.org/officeDocument/2006/relationships/hyperlink" Target="https://en.wikipedia.org/wiki/GhostBS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rueNAS" TargetMode="External"/><Relationship Id="rId5" Type="http://schemas.openxmlformats.org/officeDocument/2006/relationships/hyperlink" Target="https://en.wikipedia.org/wiki/Fork_(software_development)" TargetMode="External"/><Relationship Id="rId10" Type="http://schemas.openxmlformats.org/officeDocument/2006/relationships/hyperlink" Target="https://en.wikipedia.org/wiki/MidnightBSD" TargetMode="External"/><Relationship Id="rId4" Type="http://schemas.openxmlformats.org/officeDocument/2006/relationships/hyperlink" Target="https://en.wikipedia.org/wiki/DragonFly_BSD" TargetMode="External"/><Relationship Id="rId9" Type="http://schemas.openxmlformats.org/officeDocument/2006/relationships/hyperlink" Target="https://en.wikipedia.org/wiki/Junos_OS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Orbis_OS" TargetMode="External"/><Relationship Id="rId3" Type="http://schemas.openxmlformats.org/officeDocument/2006/relationships/hyperlink" Target="https://en.wikipedia.org/wiki/FreeNAS" TargetMode="External"/><Relationship Id="rId7" Type="http://schemas.openxmlformats.org/officeDocument/2006/relationships/hyperlink" Target="https://en.wikipedia.org/wiki/CellOS" TargetMode="External"/><Relationship Id="rId2" Type="http://schemas.openxmlformats.org/officeDocument/2006/relationships/hyperlink" Target="https://en.wikipedia.org/wiki/XigmaNA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PfSense" TargetMode="External"/><Relationship Id="rId5" Type="http://schemas.openxmlformats.org/officeDocument/2006/relationships/hyperlink" Target="https://en.wikipedia.org/wiki/OPNsense" TargetMode="External"/><Relationship Id="rId10" Type="http://schemas.openxmlformats.org/officeDocument/2006/relationships/hyperlink" Target="https://en.wikipedia.org/w/index.php?title=ULBSD&amp;action=edit&amp;redlink=1" TargetMode="External"/><Relationship Id="rId4" Type="http://schemas.openxmlformats.org/officeDocument/2006/relationships/hyperlink" Target="https://en.wikipedia.org/w/index.php?title=NomadBSD&amp;action=edit&amp;redlink=1" TargetMode="External"/><Relationship Id="rId9" Type="http://schemas.openxmlformats.org/officeDocument/2006/relationships/hyperlink" Target="https://en.wikipedia.org/w/index.php?title=Zrouter&amp;action=edit&amp;redlink=1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dJ" TargetMode="External"/><Relationship Id="rId2" Type="http://schemas.openxmlformats.org/officeDocument/2006/relationships/hyperlink" Target="https://en.wikipedia.org/wiki/Fork_(software_development)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a.wikipedia.org/wiki/%E6%B2%B3%E8%B1%9A%E6%9D%BF" TargetMode="External"/><Relationship Id="rId4" Type="http://schemas.openxmlformats.org/officeDocument/2006/relationships/hyperlink" Target="https://en.wikipedia.org/wiki/Enlightenment_(software)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/index.php?title=MicroBSD&amp;action=edit&amp;redlink=1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8F9E0-DA17-162B-334D-027F0455C0B2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pPr lvl="0"/>
            <a:r>
              <a:rPr lang="en-US" dirty="0">
                <a:latin typeface="Liberation Sans" pitchFamily="34"/>
              </a:rPr>
              <a:t>What is BSD?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327A9-B411-D339-6D91-14D0AB01F0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Why should you care?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o Am I?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19A9-F5AE-878F-D01E-207595F179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Who Am 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8EA88-A0AA-0B61-773D-92E206E1BF4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US"/>
              <a:t>Wrote my first program in Fortran in 1971</a:t>
            </a:r>
          </a:p>
          <a:p>
            <a:pPr lvl="0"/>
            <a:r>
              <a:rPr lang="en-US"/>
              <a:t>Joined the industry full time in 1976</a:t>
            </a:r>
          </a:p>
          <a:p>
            <a:pPr lvl="0"/>
            <a:r>
              <a:rPr lang="en-US"/>
              <a:t>Have worked as</a:t>
            </a:r>
          </a:p>
          <a:p>
            <a:pPr lvl="1"/>
            <a:r>
              <a:rPr lang="en-US"/>
              <a:t>Component level repair technician</a:t>
            </a:r>
          </a:p>
          <a:p>
            <a:pPr lvl="1"/>
            <a:r>
              <a:rPr lang="en-US"/>
              <a:t>National technical support</a:t>
            </a:r>
          </a:p>
          <a:p>
            <a:pPr lvl="1"/>
            <a:r>
              <a:rPr lang="en-US"/>
              <a:t>National Support and Training Manager</a:t>
            </a:r>
          </a:p>
          <a:p>
            <a:pPr lvl="1"/>
            <a:r>
              <a:rPr lang="en-US"/>
              <a:t>Product Manager</a:t>
            </a:r>
          </a:p>
          <a:p>
            <a:pPr lvl="1"/>
            <a:r>
              <a:rPr lang="en-US"/>
              <a:t>Systems Engineering Manager</a:t>
            </a:r>
          </a:p>
          <a:p>
            <a:pPr lvl="1"/>
            <a:r>
              <a:rPr lang="en-US"/>
              <a:t>Corporate Evangelist</a:t>
            </a:r>
          </a:p>
          <a:p>
            <a:pPr lvl="1"/>
            <a:r>
              <a:rPr lang="en-US"/>
              <a:t>Security Program Manager</a:t>
            </a:r>
          </a:p>
          <a:p>
            <a:pPr lvl="1"/>
            <a:r>
              <a:rPr lang="en-US"/>
              <a:t>Security Strategist</a:t>
            </a:r>
          </a:p>
          <a:p>
            <a:pPr lvl="1"/>
            <a:r>
              <a:rPr lang="en-US"/>
              <a:t>Country Manager</a:t>
            </a:r>
          </a:p>
        </p:txBody>
      </p:sp>
      <p:pic>
        <p:nvPicPr>
          <p:cNvPr id="4" name="Picture 2" descr="pete.JPG">
            <a:extLst>
              <a:ext uri="{FF2B5EF4-FFF2-40B4-BE49-F238E27FC236}">
                <a16:creationId xmlns:a16="http://schemas.microsoft.com/office/drawing/2014/main" id="{9D5B76BE-E7D1-A32D-8445-1117E5B2F69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020466" y="1394879"/>
            <a:ext cx="2845080" cy="259649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4EB0B-5E82-F492-1D7B-341BE371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36241D8-DCF7-4AC8-885A-8C64E53E67D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64235-32BB-CD32-9CB8-10268944D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Liberation Sans" pitchFamily="34"/>
              </a:rPr>
              <a:t>Some UNIX history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4749B-3F6C-1A4E-6F0F-38AA4F3E2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Assuming most are familiar with the birth and initial development story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V4 was the first version with wide distribution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Source code recently found at University of Utah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B7722-1AAD-E158-9065-CE188C6AB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0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werPoint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B0D3BDC-2BB8-6068-F67E-87FA557C27D1}"/>
              </a:ext>
            </a:extLst>
          </p:cNvPr>
          <p:cNvSpPr/>
          <p:nvPr/>
        </p:nvSpPr>
        <p:spPr>
          <a:xfrm>
            <a:off x="2519640" y="4031999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A563C73-DAE6-1E83-3E30-30E6DB06C48A}"/>
              </a:ext>
            </a:extLst>
          </p:cNvPr>
          <p:cNvSpPr/>
          <p:nvPr/>
        </p:nvSpPr>
        <p:spPr>
          <a:xfrm>
            <a:off x="8147880" y="4031999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A648B15-BF7B-F026-B8A1-646CEB9AEE5F}"/>
              </a:ext>
            </a:extLst>
          </p:cNvPr>
          <p:cNvSpPr/>
          <p:nvPr/>
        </p:nvSpPr>
        <p:spPr>
          <a:xfrm>
            <a:off x="4367880" y="2709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A8388A8-0709-56E3-495C-6E419347CCA2}"/>
              </a:ext>
            </a:extLst>
          </p:cNvPr>
          <p:cNvSpPr/>
          <p:nvPr/>
        </p:nvSpPr>
        <p:spPr>
          <a:xfrm>
            <a:off x="4367880" y="4031999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88A6B25-055A-B6E4-5929-0724714109F9}"/>
              </a:ext>
            </a:extLst>
          </p:cNvPr>
          <p:cNvSpPr/>
          <p:nvPr/>
        </p:nvSpPr>
        <p:spPr>
          <a:xfrm>
            <a:off x="839879" y="2709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BDE45C2-152F-D229-51E3-40635975D3DC}"/>
              </a:ext>
            </a:extLst>
          </p:cNvPr>
          <p:cNvSpPr/>
          <p:nvPr/>
        </p:nvSpPr>
        <p:spPr>
          <a:xfrm>
            <a:off x="6299640" y="1260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B93BD4-F140-6E9F-9DD3-597CDFC87401}"/>
              </a:ext>
            </a:extLst>
          </p:cNvPr>
          <p:cNvSpPr/>
          <p:nvPr/>
        </p:nvSpPr>
        <p:spPr>
          <a:xfrm>
            <a:off x="6299640" y="4031999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48E367-7E3C-324A-336A-868ECA6316A1}"/>
              </a:ext>
            </a:extLst>
          </p:cNvPr>
          <p:cNvSpPr/>
          <p:nvPr/>
        </p:nvSpPr>
        <p:spPr>
          <a:xfrm>
            <a:off x="8231399" y="1260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9714AE6-A1E3-DEBD-70F5-3FDF671F0375}"/>
              </a:ext>
            </a:extLst>
          </p:cNvPr>
          <p:cNvSpPr/>
          <p:nvPr/>
        </p:nvSpPr>
        <p:spPr>
          <a:xfrm>
            <a:off x="4367880" y="1260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D24D828-1A7E-402F-5CB3-69C628417AC4}"/>
              </a:ext>
            </a:extLst>
          </p:cNvPr>
          <p:cNvSpPr/>
          <p:nvPr/>
        </p:nvSpPr>
        <p:spPr>
          <a:xfrm>
            <a:off x="2519640" y="1260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D40B5A7-8558-55A4-ECE2-3884A75886DE}"/>
              </a:ext>
            </a:extLst>
          </p:cNvPr>
          <p:cNvSpPr/>
          <p:nvPr/>
        </p:nvSpPr>
        <p:spPr>
          <a:xfrm>
            <a:off x="1007640" y="2834640"/>
            <a:ext cx="1596240" cy="126000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ADC4CCD-4CBF-89F9-E983-C08F5F923B21}"/>
              </a:ext>
            </a:extLst>
          </p:cNvPr>
          <p:cNvSpPr/>
          <p:nvPr/>
        </p:nvSpPr>
        <p:spPr>
          <a:xfrm flipV="1">
            <a:off x="923759" y="1385640"/>
            <a:ext cx="1680121" cy="138564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32A4846-2800-4510-6E36-3F5BB2443938}"/>
              </a:ext>
            </a:extLst>
          </p:cNvPr>
          <p:cNvSpPr/>
          <p:nvPr/>
        </p:nvSpPr>
        <p:spPr>
          <a:xfrm>
            <a:off x="2687760" y="4158000"/>
            <a:ext cx="5628240" cy="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2A7C8DCF-5477-345B-B18F-1659709BD4E3}"/>
              </a:ext>
            </a:extLst>
          </p:cNvPr>
          <p:cNvSpPr/>
          <p:nvPr/>
        </p:nvSpPr>
        <p:spPr>
          <a:xfrm>
            <a:off x="2687760" y="1385999"/>
            <a:ext cx="5628240" cy="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36FE395C-ECC7-872C-9FA8-07ED25282BAF}"/>
              </a:ext>
            </a:extLst>
          </p:cNvPr>
          <p:cNvSpPr/>
          <p:nvPr/>
        </p:nvSpPr>
        <p:spPr>
          <a:xfrm>
            <a:off x="2687400" y="1323000"/>
            <a:ext cx="0" cy="283500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26FA33D-62E6-ADC0-66DD-3170D10EC392}"/>
              </a:ext>
            </a:extLst>
          </p:cNvPr>
          <p:cNvSpPr/>
          <p:nvPr/>
        </p:nvSpPr>
        <p:spPr>
          <a:xfrm>
            <a:off x="4535640" y="1385999"/>
            <a:ext cx="0" cy="2835001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6016A264-CB9A-4CCC-A39E-693DC7F78654}"/>
              </a:ext>
            </a:extLst>
          </p:cNvPr>
          <p:cNvSpPr/>
          <p:nvPr/>
        </p:nvSpPr>
        <p:spPr>
          <a:xfrm>
            <a:off x="6467399" y="1385999"/>
            <a:ext cx="0" cy="2835001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1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i="0" u="none" strike="noStrike" cap="none" baseline="0">
              <a:ln>
                <a:noFill/>
              </a:ln>
              <a:solidFill>
                <a:srgbClr val="000000"/>
              </a:solidFill>
              <a:latin typeface="Times New Roman" pitchFamily="18"/>
              <a:ea typeface="Times New Roman" pitchFamily="18"/>
              <a:cs typeface="Times New Roman" pitchFamily="18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7EF895-F2B6-01C9-5B9E-BCE51A1A4D22}"/>
              </a:ext>
            </a:extLst>
          </p:cNvPr>
          <p:cNvSpPr/>
          <p:nvPr/>
        </p:nvSpPr>
        <p:spPr>
          <a:xfrm>
            <a:off x="1175760" y="264600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UCSB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E7029EC-F651-4E21-03F0-9E02BBECB316}"/>
              </a:ext>
            </a:extLst>
          </p:cNvPr>
          <p:cNvSpPr/>
          <p:nvPr/>
        </p:nvSpPr>
        <p:spPr>
          <a:xfrm>
            <a:off x="4703760" y="264600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SDC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9C31828-C851-FA66-78D7-0642AF6087DA}"/>
              </a:ext>
            </a:extLst>
          </p:cNvPr>
          <p:cNvSpPr/>
          <p:nvPr/>
        </p:nvSpPr>
        <p:spPr>
          <a:xfrm>
            <a:off x="7811640" y="88164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AU"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Linc.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357F28E-40F7-B794-B1E4-4A8E60878722}"/>
              </a:ext>
            </a:extLst>
          </p:cNvPr>
          <p:cNvSpPr/>
          <p:nvPr/>
        </p:nvSpPr>
        <p:spPr>
          <a:xfrm>
            <a:off x="5963760" y="88164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MIT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73711DA-138E-8463-273C-E5B22A448735}"/>
              </a:ext>
            </a:extLst>
          </p:cNvPr>
          <p:cNvSpPr/>
          <p:nvPr/>
        </p:nvSpPr>
        <p:spPr>
          <a:xfrm>
            <a:off x="4115880" y="88164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Utah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18BE4F2-9ED1-29C9-1E16-7C3D1174FF66}"/>
              </a:ext>
            </a:extLst>
          </p:cNvPr>
          <p:cNvSpPr/>
          <p:nvPr/>
        </p:nvSpPr>
        <p:spPr>
          <a:xfrm>
            <a:off x="2267640" y="88164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SRI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DFB0FCD-61F1-9AB4-09F1-0D4E87C8AFA2}"/>
              </a:ext>
            </a:extLst>
          </p:cNvPr>
          <p:cNvSpPr/>
          <p:nvPr/>
        </p:nvSpPr>
        <p:spPr>
          <a:xfrm>
            <a:off x="7979760" y="428364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AU"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Harv.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940D61B-303E-D742-08F2-73C33D271204}"/>
              </a:ext>
            </a:extLst>
          </p:cNvPr>
          <p:cNvSpPr/>
          <p:nvPr/>
        </p:nvSpPr>
        <p:spPr>
          <a:xfrm>
            <a:off x="5963760" y="428364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BBN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8E1C0EB-8D28-C6C6-385E-D01F5D8A3EB7}"/>
              </a:ext>
            </a:extLst>
          </p:cNvPr>
          <p:cNvSpPr/>
          <p:nvPr/>
        </p:nvSpPr>
        <p:spPr>
          <a:xfrm>
            <a:off x="3947760" y="428364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Rand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3CADFEB-ADFF-0422-9597-23AF541881E8}"/>
              </a:ext>
            </a:extLst>
          </p:cNvPr>
          <p:cNvSpPr/>
          <p:nvPr/>
        </p:nvSpPr>
        <p:spPr>
          <a:xfrm>
            <a:off x="2267640" y="428364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UCLA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F087B1F-3198-228F-B219-82E5E8E1AB1F}"/>
              </a:ext>
            </a:extLst>
          </p:cNvPr>
          <p:cNvSpPr/>
          <p:nvPr/>
        </p:nvSpPr>
        <p:spPr>
          <a:xfrm>
            <a:off x="2756160" y="4946759"/>
            <a:ext cx="1882440" cy="320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149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ARPA network 1970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FEC4E5E-A0CA-90E1-832A-513DA4827006}"/>
              </a:ext>
            </a:extLst>
          </p:cNvPr>
          <p:cNvSpPr/>
          <p:nvPr/>
        </p:nvSpPr>
        <p:spPr>
          <a:xfrm>
            <a:off x="2631600" y="5341680"/>
            <a:ext cx="5610960" cy="337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1">
            <a:sp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16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Arial" pitchFamily="34"/>
                <a:ea typeface="Times New Roman" pitchFamily="18"/>
                <a:cs typeface="Times New Roman" pitchFamily="18"/>
              </a:rPr>
              <a:t>Telecommunications and the Computer, James Martin, 1976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06CFD79-33E1-4E74-3C66-6B8B729C4F68}"/>
              </a:ext>
            </a:extLst>
          </p:cNvPr>
          <p:cNvSpPr/>
          <p:nvPr/>
        </p:nvSpPr>
        <p:spPr>
          <a:xfrm>
            <a:off x="7391880" y="819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50E0CBB-0BA6-57CE-E89A-42C9CF5F52B4}"/>
              </a:ext>
            </a:extLst>
          </p:cNvPr>
          <p:cNvSpPr/>
          <p:nvPr/>
        </p:nvSpPr>
        <p:spPr>
          <a:xfrm>
            <a:off x="671400" y="4473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6939059-5D99-74F6-E8E1-82CB80F59EB4}"/>
              </a:ext>
            </a:extLst>
          </p:cNvPr>
          <p:cNvSpPr/>
          <p:nvPr/>
        </p:nvSpPr>
        <p:spPr>
          <a:xfrm>
            <a:off x="7895880" y="1575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9533D12-936B-D352-E92D-30195683405E}"/>
              </a:ext>
            </a:extLst>
          </p:cNvPr>
          <p:cNvSpPr/>
          <p:nvPr/>
        </p:nvSpPr>
        <p:spPr>
          <a:xfrm>
            <a:off x="1931399" y="4473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7C326D5-802C-269E-13D5-B3F898C549E9}"/>
              </a:ext>
            </a:extLst>
          </p:cNvPr>
          <p:cNvSpPr/>
          <p:nvPr/>
        </p:nvSpPr>
        <p:spPr>
          <a:xfrm>
            <a:off x="2351880" y="2898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37DB076-8ADD-CE30-3685-BD927BAAEA49}"/>
              </a:ext>
            </a:extLst>
          </p:cNvPr>
          <p:cNvSpPr/>
          <p:nvPr/>
        </p:nvSpPr>
        <p:spPr>
          <a:xfrm>
            <a:off x="671400" y="238068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5A5B1BE-442C-5D41-C7A2-1F68D0234217}"/>
              </a:ext>
            </a:extLst>
          </p:cNvPr>
          <p:cNvSpPr/>
          <p:nvPr/>
        </p:nvSpPr>
        <p:spPr>
          <a:xfrm>
            <a:off x="6383880" y="2268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A7F303-57C2-7262-9C64-242B213090C0}"/>
              </a:ext>
            </a:extLst>
          </p:cNvPr>
          <p:cNvSpPr/>
          <p:nvPr/>
        </p:nvSpPr>
        <p:spPr>
          <a:xfrm>
            <a:off x="8399880" y="1323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D8C2CC-4CC1-3B41-E1B7-7D2AA7BEC0F3}"/>
              </a:ext>
            </a:extLst>
          </p:cNvPr>
          <p:cNvSpPr/>
          <p:nvPr/>
        </p:nvSpPr>
        <p:spPr>
          <a:xfrm>
            <a:off x="7223399" y="1827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0C8B9F-2A6E-207D-C7D7-9EDE1F5468F8}"/>
              </a:ext>
            </a:extLst>
          </p:cNvPr>
          <p:cNvSpPr/>
          <p:nvPr/>
        </p:nvSpPr>
        <p:spPr>
          <a:xfrm>
            <a:off x="4199400" y="819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15FBC32-2822-A2A1-F0CA-2F67EAA6E1D4}"/>
              </a:ext>
            </a:extLst>
          </p:cNvPr>
          <p:cNvSpPr/>
          <p:nvPr/>
        </p:nvSpPr>
        <p:spPr>
          <a:xfrm>
            <a:off x="671400" y="819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D17E414-A3C4-2CD5-A948-D56E329E4539}"/>
              </a:ext>
            </a:extLst>
          </p:cNvPr>
          <p:cNvSpPr/>
          <p:nvPr/>
        </p:nvSpPr>
        <p:spPr>
          <a:xfrm flipV="1">
            <a:off x="839879" y="2331000"/>
            <a:ext cx="2183761" cy="226800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473E8EB0-4EC5-E556-A7D2-EADCA6C7EF6E}"/>
              </a:ext>
            </a:extLst>
          </p:cNvPr>
          <p:cNvSpPr/>
          <p:nvPr/>
        </p:nvSpPr>
        <p:spPr>
          <a:xfrm>
            <a:off x="756000" y="4599000"/>
            <a:ext cx="8735760" cy="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B6AE0E2-1D45-A67C-C9E1-5D256D5101FA}"/>
              </a:ext>
            </a:extLst>
          </p:cNvPr>
          <p:cNvSpPr/>
          <p:nvPr/>
        </p:nvSpPr>
        <p:spPr>
          <a:xfrm>
            <a:off x="756000" y="945000"/>
            <a:ext cx="8652240" cy="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5AD99BE3-C3E6-B198-6E1B-99190A64B652}"/>
              </a:ext>
            </a:extLst>
          </p:cNvPr>
          <p:cNvSpPr/>
          <p:nvPr/>
        </p:nvSpPr>
        <p:spPr>
          <a:xfrm>
            <a:off x="6467759" y="2393640"/>
            <a:ext cx="3024001" cy="220536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06B8D04-C887-6526-2758-96827F1958F9}"/>
              </a:ext>
            </a:extLst>
          </p:cNvPr>
          <p:cNvSpPr/>
          <p:nvPr/>
        </p:nvSpPr>
        <p:spPr>
          <a:xfrm>
            <a:off x="1007640" y="2317680"/>
            <a:ext cx="117576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FNWC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F7B3A5C-7D99-B613-3AD4-C850AFF3D9CF}"/>
              </a:ext>
            </a:extLst>
          </p:cNvPr>
          <p:cNvSpPr/>
          <p:nvPr/>
        </p:nvSpPr>
        <p:spPr>
          <a:xfrm>
            <a:off x="2015640" y="4221000"/>
            <a:ext cx="92375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SDC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AF64D48-265E-F713-68F5-452BF3CC1FB8}"/>
              </a:ext>
            </a:extLst>
          </p:cNvPr>
          <p:cNvSpPr/>
          <p:nvPr/>
        </p:nvSpPr>
        <p:spPr>
          <a:xfrm>
            <a:off x="5796000" y="1637640"/>
            <a:ext cx="1512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Aberdeen.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8A8B2B8-1D07-B528-68F9-D0808BE41ADE}"/>
              </a:ext>
            </a:extLst>
          </p:cNvPr>
          <p:cNvSpPr/>
          <p:nvPr/>
        </p:nvSpPr>
        <p:spPr>
          <a:xfrm>
            <a:off x="6719760" y="2268000"/>
            <a:ext cx="117612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ETAC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15AABA2-4EA1-6BC7-754F-F009E3900F6A}"/>
              </a:ext>
            </a:extLst>
          </p:cNvPr>
          <p:cNvSpPr/>
          <p:nvPr/>
        </p:nvSpPr>
        <p:spPr>
          <a:xfrm>
            <a:off x="3779640" y="440999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Utah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63C7FC8-909A-0C42-8B4C-6268F2977BE3}"/>
              </a:ext>
            </a:extLst>
          </p:cNvPr>
          <p:cNvSpPr/>
          <p:nvPr/>
        </p:nvSpPr>
        <p:spPr>
          <a:xfrm>
            <a:off x="587880" y="440999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SRI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B722053-BBE2-2DA8-8930-A1177F5F8D21}"/>
              </a:ext>
            </a:extLst>
          </p:cNvPr>
          <p:cNvSpPr/>
          <p:nvPr/>
        </p:nvSpPr>
        <p:spPr>
          <a:xfrm>
            <a:off x="8063640" y="163764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AU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Harv.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0B01263-FF71-A03C-F8DF-D9082EECD05C}"/>
              </a:ext>
            </a:extLst>
          </p:cNvPr>
          <p:cNvSpPr/>
          <p:nvPr/>
        </p:nvSpPr>
        <p:spPr>
          <a:xfrm>
            <a:off x="7643880" y="1259639"/>
            <a:ext cx="92375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BBN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0082821-7AD3-2BC3-B12D-A4EF4368B2E7}"/>
              </a:ext>
            </a:extLst>
          </p:cNvPr>
          <p:cNvSpPr/>
          <p:nvPr/>
        </p:nvSpPr>
        <p:spPr>
          <a:xfrm>
            <a:off x="2687760" y="2835000"/>
            <a:ext cx="100799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Rand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86DE15C-3912-66E9-CF3D-4687D6F6F865}"/>
              </a:ext>
            </a:extLst>
          </p:cNvPr>
          <p:cNvSpPr/>
          <p:nvPr/>
        </p:nvSpPr>
        <p:spPr>
          <a:xfrm>
            <a:off x="587880" y="472500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UCLA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C759E55-0FA4-51A7-8D04-AEDBC51F7D01}"/>
              </a:ext>
            </a:extLst>
          </p:cNvPr>
          <p:cNvSpPr/>
          <p:nvPr/>
        </p:nvSpPr>
        <p:spPr>
          <a:xfrm>
            <a:off x="2768400" y="4946759"/>
            <a:ext cx="1857959" cy="3207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149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ARPA network 1974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C8FFA10C-7BAB-CC6A-E4AE-3B2582D22CB5}"/>
              </a:ext>
            </a:extLst>
          </p:cNvPr>
          <p:cNvSpPr/>
          <p:nvPr/>
        </p:nvSpPr>
        <p:spPr>
          <a:xfrm>
            <a:off x="2648519" y="5341680"/>
            <a:ext cx="5577120" cy="3376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non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16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Telecommunications and the Computer, James Martin, 1976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DED25D0-557B-1D9F-4214-CEB9DAC21F47}"/>
              </a:ext>
            </a:extLst>
          </p:cNvPr>
          <p:cNvSpPr/>
          <p:nvPr/>
        </p:nvSpPr>
        <p:spPr>
          <a:xfrm>
            <a:off x="9323640" y="4473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F853BCC-865B-67DD-04E8-093B578A9792}"/>
              </a:ext>
            </a:extLst>
          </p:cNvPr>
          <p:cNvSpPr/>
          <p:nvPr/>
        </p:nvSpPr>
        <p:spPr>
          <a:xfrm>
            <a:off x="9323640" y="819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3CA35DFB-0330-A071-787F-18DBEDAF55A2}"/>
              </a:ext>
            </a:extLst>
          </p:cNvPr>
          <p:cNvSpPr/>
          <p:nvPr/>
        </p:nvSpPr>
        <p:spPr>
          <a:xfrm>
            <a:off x="9491400" y="945000"/>
            <a:ext cx="0" cy="365400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6717E6C3-4357-11EE-3902-9EA38C01C268}"/>
              </a:ext>
            </a:extLst>
          </p:cNvPr>
          <p:cNvSpPr/>
          <p:nvPr/>
        </p:nvSpPr>
        <p:spPr>
          <a:xfrm>
            <a:off x="9071640" y="440999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MIT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4621F77-E4A5-39F7-2F60-9277978B449D}"/>
              </a:ext>
            </a:extLst>
          </p:cNvPr>
          <p:cNvSpPr/>
          <p:nvPr/>
        </p:nvSpPr>
        <p:spPr>
          <a:xfrm>
            <a:off x="8903880" y="4725000"/>
            <a:ext cx="92375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Case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36B3995-87DF-009C-2053-D9069A2B6ABC}"/>
              </a:ext>
            </a:extLst>
          </p:cNvPr>
          <p:cNvSpPr/>
          <p:nvPr/>
        </p:nvSpPr>
        <p:spPr>
          <a:xfrm>
            <a:off x="2267640" y="1827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5B5E076-F9C0-C714-0A8E-514C5A5F78C7}"/>
              </a:ext>
            </a:extLst>
          </p:cNvPr>
          <p:cNvSpPr/>
          <p:nvPr/>
        </p:nvSpPr>
        <p:spPr>
          <a:xfrm>
            <a:off x="2603880" y="1764000"/>
            <a:ext cx="159588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Stanford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E2BFE81A-0749-383A-CBD3-83DF1795BE1C}"/>
              </a:ext>
            </a:extLst>
          </p:cNvPr>
          <p:cNvSpPr/>
          <p:nvPr/>
        </p:nvSpPr>
        <p:spPr>
          <a:xfrm>
            <a:off x="756000" y="944640"/>
            <a:ext cx="2268000" cy="138600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C6B731A-0E51-9797-5D06-D8AF3D73A6AE}"/>
              </a:ext>
            </a:extLst>
          </p:cNvPr>
          <p:cNvSpPr/>
          <p:nvPr/>
        </p:nvSpPr>
        <p:spPr>
          <a:xfrm>
            <a:off x="7307640" y="440999"/>
            <a:ext cx="67212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III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2153B3C4-3910-DC38-92BF-E01EC59FF809}"/>
              </a:ext>
            </a:extLst>
          </p:cNvPr>
          <p:cNvSpPr/>
          <p:nvPr/>
        </p:nvSpPr>
        <p:spPr>
          <a:xfrm>
            <a:off x="1091880" y="1134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AA659BA8-1740-E96C-768E-0EC18A4F3E01}"/>
              </a:ext>
            </a:extLst>
          </p:cNvPr>
          <p:cNvSpPr/>
          <p:nvPr/>
        </p:nvSpPr>
        <p:spPr>
          <a:xfrm>
            <a:off x="1259639" y="1070640"/>
            <a:ext cx="167975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Ames TIP</a:t>
            </a: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5E31954-DD03-910E-6660-99D56D02DD2F}"/>
              </a:ext>
            </a:extLst>
          </p:cNvPr>
          <p:cNvSpPr/>
          <p:nvPr/>
        </p:nvSpPr>
        <p:spPr>
          <a:xfrm>
            <a:off x="5711400" y="4473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0B73347-052D-C7CC-4068-5A35DA92650B}"/>
              </a:ext>
            </a:extLst>
          </p:cNvPr>
          <p:cNvSpPr/>
          <p:nvPr/>
        </p:nvSpPr>
        <p:spPr>
          <a:xfrm>
            <a:off x="5543640" y="4725000"/>
            <a:ext cx="117576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NOAA</a:t>
            </a:r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E287C22F-744F-B18F-7EBB-999C71A50E76}"/>
              </a:ext>
            </a:extLst>
          </p:cNvPr>
          <p:cNvSpPr/>
          <p:nvPr/>
        </p:nvSpPr>
        <p:spPr>
          <a:xfrm>
            <a:off x="3107879" y="2393640"/>
            <a:ext cx="3443761" cy="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853B15F1-B9D4-AA28-C88C-B239CBD13B20}"/>
              </a:ext>
            </a:extLst>
          </p:cNvPr>
          <p:cNvSpPr/>
          <p:nvPr/>
        </p:nvSpPr>
        <p:spPr>
          <a:xfrm flipV="1">
            <a:off x="6467759" y="944640"/>
            <a:ext cx="3024001" cy="138600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12FDD00-2E2C-EC86-1B12-77FBAC4DAAE8}"/>
              </a:ext>
            </a:extLst>
          </p:cNvPr>
          <p:cNvSpPr/>
          <p:nvPr/>
        </p:nvSpPr>
        <p:spPr>
          <a:xfrm>
            <a:off x="9407880" y="2898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4478559-6C29-C6C6-1536-F7D505D5E2DA}"/>
              </a:ext>
            </a:extLst>
          </p:cNvPr>
          <p:cNvSpPr/>
          <p:nvPr/>
        </p:nvSpPr>
        <p:spPr>
          <a:xfrm>
            <a:off x="8399880" y="2835000"/>
            <a:ext cx="109188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RADC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A08E4BC1-FF3A-B6E4-3E8F-CB22A6438A51}"/>
              </a:ext>
            </a:extLst>
          </p:cNvPr>
          <p:cNvSpPr/>
          <p:nvPr/>
        </p:nvSpPr>
        <p:spPr>
          <a:xfrm>
            <a:off x="9407880" y="212904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DDFC10A8-D1CA-0483-AA9C-0F74E3789DFD}"/>
              </a:ext>
            </a:extLst>
          </p:cNvPr>
          <p:cNvSpPr/>
          <p:nvPr/>
        </p:nvSpPr>
        <p:spPr>
          <a:xfrm>
            <a:off x="8987760" y="2065680"/>
            <a:ext cx="58824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LL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CF7D4EE-69B1-F4D3-A8E7-F27405D77494}"/>
              </a:ext>
            </a:extLst>
          </p:cNvPr>
          <p:cNvSpPr/>
          <p:nvPr/>
        </p:nvSpPr>
        <p:spPr>
          <a:xfrm>
            <a:off x="3779640" y="2268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C655C5E-AB4C-CDF2-B291-8FE0CC6AB210}"/>
              </a:ext>
            </a:extLst>
          </p:cNvPr>
          <p:cNvSpPr/>
          <p:nvPr/>
        </p:nvSpPr>
        <p:spPr>
          <a:xfrm>
            <a:off x="6887880" y="2015999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C6DAED03-0146-A954-9651-6B95AE75219C}"/>
              </a:ext>
            </a:extLst>
          </p:cNvPr>
          <p:cNvSpPr/>
          <p:nvPr/>
        </p:nvSpPr>
        <p:spPr>
          <a:xfrm>
            <a:off x="6215759" y="1890000"/>
            <a:ext cx="92448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NBS.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0F605FA-8CA0-AE43-9D1B-801B34247BAB}"/>
              </a:ext>
            </a:extLst>
          </p:cNvPr>
          <p:cNvSpPr/>
          <p:nvPr/>
        </p:nvSpPr>
        <p:spPr>
          <a:xfrm>
            <a:off x="3191400" y="819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D199A102-C07B-3AD7-C1F5-2F6A697A8B8B}"/>
              </a:ext>
            </a:extLst>
          </p:cNvPr>
          <p:cNvSpPr/>
          <p:nvPr/>
        </p:nvSpPr>
        <p:spPr>
          <a:xfrm>
            <a:off x="2771640" y="440999"/>
            <a:ext cx="756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LBL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F2534A33-E476-A94C-0989-53290CC74E28}"/>
              </a:ext>
            </a:extLst>
          </p:cNvPr>
          <p:cNvSpPr/>
          <p:nvPr/>
        </p:nvSpPr>
        <p:spPr>
          <a:xfrm>
            <a:off x="3527640" y="2456999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Tinker</a:t>
            </a:r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FB3C59E2-CAF0-51B5-A38D-ACB5A55EDD0C}"/>
              </a:ext>
            </a:extLst>
          </p:cNvPr>
          <p:cNvSpPr/>
          <p:nvPr/>
        </p:nvSpPr>
        <p:spPr>
          <a:xfrm flipH="1">
            <a:off x="755639" y="881640"/>
            <a:ext cx="84240" cy="371736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241C3DA-95F0-02B6-2E7E-B8703192233F}"/>
              </a:ext>
            </a:extLst>
          </p:cNvPr>
          <p:cNvSpPr/>
          <p:nvPr/>
        </p:nvSpPr>
        <p:spPr>
          <a:xfrm>
            <a:off x="1763640" y="1512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FAD4CAE3-4EA2-9B1C-509F-ABA4352D1C93}"/>
              </a:ext>
            </a:extLst>
          </p:cNvPr>
          <p:cNvSpPr/>
          <p:nvPr/>
        </p:nvSpPr>
        <p:spPr>
          <a:xfrm>
            <a:off x="2099880" y="1448639"/>
            <a:ext cx="1512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Ames IMP</a:t>
            </a: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20CF2BF6-B725-903F-0E7A-ED146A6C7D43}"/>
              </a:ext>
            </a:extLst>
          </p:cNvPr>
          <p:cNvSpPr/>
          <p:nvPr/>
        </p:nvSpPr>
        <p:spPr>
          <a:xfrm>
            <a:off x="1763640" y="3402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85979C5-F0AB-2861-AFA6-68F0B6B6179E}"/>
              </a:ext>
            </a:extLst>
          </p:cNvPr>
          <p:cNvSpPr/>
          <p:nvPr/>
        </p:nvSpPr>
        <p:spPr>
          <a:xfrm>
            <a:off x="2099880" y="3402000"/>
            <a:ext cx="109188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USCD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F3F446A-36BD-1907-E161-89940946A73B}"/>
              </a:ext>
            </a:extLst>
          </p:cNvPr>
          <p:cNvSpPr/>
          <p:nvPr/>
        </p:nvSpPr>
        <p:spPr>
          <a:xfrm>
            <a:off x="2939400" y="2268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B995455F-4FE8-3C55-7183-1B992C323510}"/>
              </a:ext>
            </a:extLst>
          </p:cNvPr>
          <p:cNvSpPr/>
          <p:nvPr/>
        </p:nvSpPr>
        <p:spPr>
          <a:xfrm>
            <a:off x="671400" y="301104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B28891B6-BCCA-6526-604B-54BAEFE0A681}"/>
              </a:ext>
            </a:extLst>
          </p:cNvPr>
          <p:cNvSpPr/>
          <p:nvPr/>
        </p:nvSpPr>
        <p:spPr>
          <a:xfrm>
            <a:off x="839879" y="2884680"/>
            <a:ext cx="100799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UCSB</a:t>
            </a: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EE4A1DB-60CB-4E43-D45C-476FC0622080}"/>
              </a:ext>
            </a:extLst>
          </p:cNvPr>
          <p:cNvSpPr/>
          <p:nvPr/>
        </p:nvSpPr>
        <p:spPr>
          <a:xfrm>
            <a:off x="671400" y="1700999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F39288A5-1946-51B2-34A6-277EE6C34D2E}"/>
              </a:ext>
            </a:extLst>
          </p:cNvPr>
          <p:cNvSpPr/>
          <p:nvPr/>
        </p:nvSpPr>
        <p:spPr>
          <a:xfrm>
            <a:off x="839879" y="1775520"/>
            <a:ext cx="1427760" cy="36827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18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X-PARC</a:t>
            </a:r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E916A490-2F4F-7D13-F3B4-A49DF706BD08}"/>
              </a:ext>
            </a:extLst>
          </p:cNvPr>
          <p:cNvSpPr/>
          <p:nvPr/>
        </p:nvSpPr>
        <p:spPr>
          <a:xfrm>
            <a:off x="7895880" y="1007999"/>
            <a:ext cx="92375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CCA</a:t>
            </a: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8497B01C-3AA8-D965-8996-6BFFED765DA9}"/>
              </a:ext>
            </a:extLst>
          </p:cNvPr>
          <p:cNvSpPr/>
          <p:nvPr/>
        </p:nvSpPr>
        <p:spPr>
          <a:xfrm>
            <a:off x="8819640" y="1070999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20D17900-4723-EC44-CA63-4E9A083037E5}"/>
              </a:ext>
            </a:extLst>
          </p:cNvPr>
          <p:cNvSpPr/>
          <p:nvPr/>
        </p:nvSpPr>
        <p:spPr>
          <a:xfrm>
            <a:off x="8735399" y="4095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36D27711-F1C7-A881-F946-48D3D68A2B60}"/>
              </a:ext>
            </a:extLst>
          </p:cNvPr>
          <p:cNvSpPr/>
          <p:nvPr/>
        </p:nvSpPr>
        <p:spPr>
          <a:xfrm>
            <a:off x="7895880" y="4031999"/>
            <a:ext cx="92375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CMU</a:t>
            </a:r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79D033E1-CD41-5145-1F53-1B4C109EF787}"/>
              </a:ext>
            </a:extLst>
          </p:cNvPr>
          <p:cNvSpPr/>
          <p:nvPr/>
        </p:nvSpPr>
        <p:spPr>
          <a:xfrm>
            <a:off x="8315640" y="3780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1991057C-6561-9D30-D415-2592F1F18580}"/>
              </a:ext>
            </a:extLst>
          </p:cNvPr>
          <p:cNvSpPr/>
          <p:nvPr/>
        </p:nvSpPr>
        <p:spPr>
          <a:xfrm>
            <a:off x="7308000" y="3716640"/>
            <a:ext cx="109224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AU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Belvoir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1A2CDF7-BE9B-DCED-46F3-1ED1C56E3028}"/>
              </a:ext>
            </a:extLst>
          </p:cNvPr>
          <p:cNvSpPr/>
          <p:nvPr/>
        </p:nvSpPr>
        <p:spPr>
          <a:xfrm>
            <a:off x="7895880" y="341496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F145D5D0-325A-66CE-DE85-667C1527E9A9}"/>
              </a:ext>
            </a:extLst>
          </p:cNvPr>
          <p:cNvSpPr/>
          <p:nvPr/>
        </p:nvSpPr>
        <p:spPr>
          <a:xfrm>
            <a:off x="6971760" y="3338639"/>
            <a:ext cx="100799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SAAC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249EE087-3313-7AD6-8D81-D3917616B7DE}"/>
              </a:ext>
            </a:extLst>
          </p:cNvPr>
          <p:cNvSpPr/>
          <p:nvPr/>
        </p:nvSpPr>
        <p:spPr>
          <a:xfrm>
            <a:off x="7391880" y="303696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5B3F5AA6-7AAD-37C6-7269-8475BA447C24}"/>
              </a:ext>
            </a:extLst>
          </p:cNvPr>
          <p:cNvSpPr/>
          <p:nvPr/>
        </p:nvSpPr>
        <p:spPr>
          <a:xfrm>
            <a:off x="6552000" y="2960639"/>
            <a:ext cx="92375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Mitre</a:t>
            </a: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6CC7AD6A-3956-920A-A605-1C6C78D4850C}"/>
              </a:ext>
            </a:extLst>
          </p:cNvPr>
          <p:cNvSpPr/>
          <p:nvPr/>
        </p:nvSpPr>
        <p:spPr>
          <a:xfrm>
            <a:off x="6887880" y="265896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EE993A5-A99A-751D-4A11-2338793315E4}"/>
              </a:ext>
            </a:extLst>
          </p:cNvPr>
          <p:cNvSpPr/>
          <p:nvPr/>
        </p:nvSpPr>
        <p:spPr>
          <a:xfrm>
            <a:off x="5963760" y="2582640"/>
            <a:ext cx="100799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ARPA</a:t>
            </a:r>
          </a:p>
        </p:txBody>
      </p:sp>
      <p:sp>
        <p:nvSpPr>
          <p:cNvPr id="76" name="Straight Connector 75">
            <a:extLst>
              <a:ext uri="{FF2B5EF4-FFF2-40B4-BE49-F238E27FC236}">
                <a16:creationId xmlns:a16="http://schemas.microsoft.com/office/drawing/2014/main" id="{5BE61043-3590-6217-0A94-9C0B9FF1BB5C}"/>
              </a:ext>
            </a:extLst>
          </p:cNvPr>
          <p:cNvSpPr/>
          <p:nvPr/>
        </p:nvSpPr>
        <p:spPr>
          <a:xfrm>
            <a:off x="7307640" y="1890000"/>
            <a:ext cx="1175760" cy="195300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EB5C0525-5CC2-AEFF-12B6-B5A5338A0405}"/>
              </a:ext>
            </a:extLst>
          </p:cNvPr>
          <p:cNvSpPr/>
          <p:nvPr/>
        </p:nvSpPr>
        <p:spPr>
          <a:xfrm>
            <a:off x="3863879" y="4473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040E9B7F-4385-FED0-0C7B-EBDBCA98C8DA}"/>
              </a:ext>
            </a:extLst>
          </p:cNvPr>
          <p:cNvSpPr/>
          <p:nvPr/>
        </p:nvSpPr>
        <p:spPr>
          <a:xfrm>
            <a:off x="3780000" y="4158000"/>
            <a:ext cx="92375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USC</a:t>
            </a: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A047762D-0844-B0DE-AF71-F803845E5801}"/>
              </a:ext>
            </a:extLst>
          </p:cNvPr>
          <p:cNvSpPr/>
          <p:nvPr/>
        </p:nvSpPr>
        <p:spPr>
          <a:xfrm>
            <a:off x="7307640" y="4473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66DAF2CA-38D7-AC3E-BE81-789D57B76E28}"/>
              </a:ext>
            </a:extLst>
          </p:cNvPr>
          <p:cNvSpPr/>
          <p:nvPr/>
        </p:nvSpPr>
        <p:spPr>
          <a:xfrm>
            <a:off x="7139880" y="4725000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AFGWC</a:t>
            </a: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30828CD1-D122-09EA-8F28-E767D1A1612C}"/>
              </a:ext>
            </a:extLst>
          </p:cNvPr>
          <p:cNvSpPr/>
          <p:nvPr/>
        </p:nvSpPr>
        <p:spPr>
          <a:xfrm>
            <a:off x="167400" y="2961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851A832A-8C4C-2382-C024-5982FC086748}"/>
              </a:ext>
            </a:extLst>
          </p:cNvPr>
          <p:cNvSpPr/>
          <p:nvPr/>
        </p:nvSpPr>
        <p:spPr>
          <a:xfrm>
            <a:off x="167400" y="3717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EEA7F74F-E871-9596-A309-F2DA81DD0D36}"/>
              </a:ext>
            </a:extLst>
          </p:cNvPr>
          <p:cNvSpPr/>
          <p:nvPr/>
        </p:nvSpPr>
        <p:spPr>
          <a:xfrm>
            <a:off x="0" y="3402000"/>
            <a:ext cx="100799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CHI</a:t>
            </a: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36B127A-0F9A-8A9F-FEEC-2CCAD25F16EF}"/>
              </a:ext>
            </a:extLst>
          </p:cNvPr>
          <p:cNvSpPr/>
          <p:nvPr/>
        </p:nvSpPr>
        <p:spPr>
          <a:xfrm>
            <a:off x="0" y="2632680"/>
            <a:ext cx="100799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SCRL</a:t>
            </a:r>
          </a:p>
        </p:txBody>
      </p:sp>
      <p:sp>
        <p:nvSpPr>
          <p:cNvPr id="85" name="Straight Connector 84">
            <a:extLst>
              <a:ext uri="{FF2B5EF4-FFF2-40B4-BE49-F238E27FC236}">
                <a16:creationId xmlns:a16="http://schemas.microsoft.com/office/drawing/2014/main" id="{816B724A-8C3A-2BAC-C845-EE4D9489EA7F}"/>
              </a:ext>
            </a:extLst>
          </p:cNvPr>
          <p:cNvSpPr/>
          <p:nvPr/>
        </p:nvSpPr>
        <p:spPr>
          <a:xfrm flipV="1">
            <a:off x="335880" y="3149279"/>
            <a:ext cx="419759" cy="693361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6" name="Straight Connector 85">
            <a:extLst>
              <a:ext uri="{FF2B5EF4-FFF2-40B4-BE49-F238E27FC236}">
                <a16:creationId xmlns:a16="http://schemas.microsoft.com/office/drawing/2014/main" id="{07287EFE-E784-5C69-AAFB-E308AB4D8F4E}"/>
              </a:ext>
            </a:extLst>
          </p:cNvPr>
          <p:cNvSpPr/>
          <p:nvPr/>
        </p:nvSpPr>
        <p:spPr>
          <a:xfrm>
            <a:off x="335880" y="3024000"/>
            <a:ext cx="503999" cy="6300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D566F875-81DD-C077-960B-0018CE2D2EFD}"/>
              </a:ext>
            </a:extLst>
          </p:cNvPr>
          <p:cNvSpPr/>
          <p:nvPr/>
        </p:nvSpPr>
        <p:spPr>
          <a:xfrm>
            <a:off x="4283640" y="1323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B909581-1EE8-209A-BA9A-584EA654B2D4}"/>
              </a:ext>
            </a:extLst>
          </p:cNvPr>
          <p:cNvSpPr/>
          <p:nvPr/>
        </p:nvSpPr>
        <p:spPr>
          <a:xfrm>
            <a:off x="4536000" y="1197000"/>
            <a:ext cx="1512000" cy="581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16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Univ. Hawaii (satellite)</a:t>
            </a:r>
          </a:p>
        </p:txBody>
      </p:sp>
      <p:sp>
        <p:nvSpPr>
          <p:cNvPr id="89" name="Straight Connector 88">
            <a:extLst>
              <a:ext uri="{FF2B5EF4-FFF2-40B4-BE49-F238E27FC236}">
                <a16:creationId xmlns:a16="http://schemas.microsoft.com/office/drawing/2014/main" id="{6B6DC954-7D5B-2ABB-8978-8C42DF4F2DF2}"/>
              </a:ext>
            </a:extLst>
          </p:cNvPr>
          <p:cNvSpPr/>
          <p:nvPr/>
        </p:nvSpPr>
        <p:spPr>
          <a:xfrm flipV="1">
            <a:off x="1847880" y="1385640"/>
            <a:ext cx="2603880" cy="188999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40A9C0D0-E3BE-84D0-0CBC-83096B52310D}"/>
              </a:ext>
            </a:extLst>
          </p:cNvPr>
          <p:cNvSpPr/>
          <p:nvPr/>
        </p:nvSpPr>
        <p:spPr>
          <a:xfrm>
            <a:off x="6551640" y="315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1" name="Straight Connector 90">
            <a:extLst>
              <a:ext uri="{FF2B5EF4-FFF2-40B4-BE49-F238E27FC236}">
                <a16:creationId xmlns:a16="http://schemas.microsoft.com/office/drawing/2014/main" id="{214E9D99-135E-162A-9E95-0F609A834D5B}"/>
              </a:ext>
            </a:extLst>
          </p:cNvPr>
          <p:cNvSpPr/>
          <p:nvPr/>
        </p:nvSpPr>
        <p:spPr>
          <a:xfrm>
            <a:off x="6719760" y="377640"/>
            <a:ext cx="840240" cy="56700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9C7A2BFA-C512-37FF-D395-C26C09B2D51F}"/>
              </a:ext>
            </a:extLst>
          </p:cNvPr>
          <p:cNvSpPr/>
          <p:nvPr/>
        </p:nvSpPr>
        <p:spPr>
          <a:xfrm>
            <a:off x="5627880" y="189000"/>
            <a:ext cx="1007999" cy="581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AU" sz="16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Univac St Paul</a:t>
            </a:r>
          </a:p>
        </p:txBody>
      </p: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8BAD6291-681D-C359-9E2F-F2AB3F0F1046}"/>
              </a:ext>
            </a:extLst>
          </p:cNvPr>
          <p:cNvSpPr/>
          <p:nvPr/>
        </p:nvSpPr>
        <p:spPr>
          <a:xfrm>
            <a:off x="7559640" y="1700999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5E869CFF-8BFB-763E-8F70-8190313DE787}"/>
              </a:ext>
            </a:extLst>
          </p:cNvPr>
          <p:cNvSpPr/>
          <p:nvPr/>
        </p:nvSpPr>
        <p:spPr>
          <a:xfrm>
            <a:off x="6971760" y="1498679"/>
            <a:ext cx="840239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NYU</a:t>
            </a:r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669155A5-D2E2-E45D-3A8B-1CF6EE77D08D}"/>
              </a:ext>
            </a:extLst>
          </p:cNvPr>
          <p:cNvSpPr/>
          <p:nvPr/>
        </p:nvSpPr>
        <p:spPr>
          <a:xfrm>
            <a:off x="4871880" y="3339000"/>
            <a:ext cx="1764000" cy="5814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16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Keller Norway (satellite)</a:t>
            </a:r>
          </a:p>
        </p:txBody>
      </p:sp>
      <p:sp>
        <p:nvSpPr>
          <p:cNvPr id="96" name="Straight Connector 95">
            <a:extLst>
              <a:ext uri="{FF2B5EF4-FFF2-40B4-BE49-F238E27FC236}">
                <a16:creationId xmlns:a16="http://schemas.microsoft.com/office/drawing/2014/main" id="{AEED808D-1F4F-E9D0-939C-59E1DB26388E}"/>
              </a:ext>
            </a:extLst>
          </p:cNvPr>
          <p:cNvSpPr/>
          <p:nvPr/>
        </p:nvSpPr>
        <p:spPr>
          <a:xfrm flipV="1">
            <a:off x="5711760" y="3527640"/>
            <a:ext cx="2352239" cy="63000"/>
          </a:xfrm>
          <a:prstGeom prst="line">
            <a:avLst/>
          </a:prstGeom>
          <a:noFill/>
          <a:ln w="9360">
            <a:solidFill>
              <a:srgbClr val="000000"/>
            </a:solidFill>
            <a:prstDash val="solid"/>
            <a:miter/>
          </a:ln>
        </p:spPr>
        <p:txBody>
          <a:bodyPr vert="horz" wrap="square" lIns="90000" tIns="46800" rIns="90000" bIns="46800" anchor="t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436B0C4B-7D4D-7CB9-5D0E-ADF50A20AB03}"/>
              </a:ext>
            </a:extLst>
          </p:cNvPr>
          <p:cNvSpPr/>
          <p:nvPr/>
        </p:nvSpPr>
        <p:spPr>
          <a:xfrm>
            <a:off x="5123880" y="2268000"/>
            <a:ext cx="252000" cy="189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prstDash val="solid"/>
            <a:miter/>
          </a:ln>
        </p:spPr>
        <p:txBody>
          <a:bodyPr vert="horz" wrap="none" lIns="90000" tIns="46800" rIns="90000" bIns="468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34"/>
              <a:ea typeface="Noto Sans CJK JP:palt" pitchFamily="34"/>
              <a:cs typeface="Noto Sans" pitchFamily="34"/>
            </a:endParaRP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A94B0BB0-9DB7-67B6-5794-801CB89FD35F}"/>
              </a:ext>
            </a:extLst>
          </p:cNvPr>
          <p:cNvSpPr/>
          <p:nvPr/>
        </p:nvSpPr>
        <p:spPr>
          <a:xfrm>
            <a:off x="4787640" y="2456999"/>
            <a:ext cx="1260000" cy="3988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1250"/>
              </a:spcBef>
              <a:spcAft>
                <a:spcPts val="0"/>
              </a:spcAft>
              <a:buNone/>
              <a:tabLst>
                <a:tab pos="0" algn="l"/>
                <a:tab pos="914400" algn="l"/>
                <a:tab pos="1828800" algn="l"/>
                <a:tab pos="2743199" algn="l"/>
                <a:tab pos="3657600" algn="l"/>
                <a:tab pos="4572000" algn="l"/>
                <a:tab pos="5486399" algn="l"/>
                <a:tab pos="6400799" algn="l"/>
                <a:tab pos="7315200" algn="l"/>
                <a:tab pos="8229600" algn="l"/>
                <a:tab pos="9144000" algn="l"/>
                <a:tab pos="10058400" algn="l"/>
              </a:tabLst>
              <a:defRPr sz="1490"/>
            </a:pPr>
            <a:r>
              <a:rPr lang="en-US" sz="2000" b="0" i="0" u="none" strike="noStrike" kern="1200" cap="none">
                <a:ln>
                  <a:noFill/>
                </a:ln>
                <a:latin typeface="Arial" pitchFamily="34"/>
                <a:ea typeface="Noto Sans CJK JP:palt" pitchFamily="34"/>
                <a:cs typeface="Noto Sans" pitchFamily="34"/>
              </a:rPr>
              <a:t>AFETR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A2BA-5FAC-9A7E-B09D-79CC4DF3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CB04-AB4A-BCD4-04A4-F1E37218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Liberation Sans" pitchFamily="34"/>
              </a:rPr>
              <a:t>Some UNIX history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D3C9F-0906-BB3D-870B-1C457F3A7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Assuming most are familiar with the birth and initial development story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V4 was the first version with wide distribution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Source code recently found at University of Utah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V6 had broad distribution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Ken Thompson installed V6 at Berkeley while on sabbatical</a:t>
            </a:r>
          </a:p>
          <a:p>
            <a:pPr marL="457200" indent="-457200"/>
            <a:endParaRPr lang="en-AU" dirty="0">
              <a:solidFill>
                <a:srgbClr val="FFFF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4BD27-1B0E-3DA5-9770-88FBEF19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666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025FF-A360-1F75-6E7F-59CAE4D2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31DC-5AE8-4F2E-BFAB-6D924B0FA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Liberation Sans" pitchFamily="34"/>
              </a:rPr>
              <a:t>Some UNIX history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F1386-0692-DD13-CB2A-882F0A1B3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Assuming most are familiar with the birth and initial development story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V4 was the first version with wide distribution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Source code recently found at University of Utah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V6 had broad distribution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Ken Thompson installed V6 at Berkeley while on sabbatical</a:t>
            </a:r>
          </a:p>
          <a:p>
            <a:pPr marL="457200" indent="-457200"/>
            <a:endParaRPr lang="en-AU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B2F91-A1E3-CB3E-4990-6DD53593D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986" y="328884"/>
            <a:ext cx="3759586" cy="501278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3A3AC-AE90-7AE5-36B3-B80827EB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00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0CD3-B79B-05DE-4635-500D4DBE1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E7B6C-9586-0ABF-9D55-5D3813659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  <a:latin typeface="Liberation Sans" pitchFamily="34"/>
              </a:rPr>
              <a:t>Some UNIX history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8F5D3-F073-8542-4DAF-3540CECA5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Assuming most are familiar with the birth and initial development story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V4 was the first version with wide distribution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Source code recently found at University of Utah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V6 had broad distribution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Ken Thompson installed V6 at Berkeley while on sabbatical</a:t>
            </a:r>
          </a:p>
          <a:p>
            <a:pPr marL="457200" indent="-457200"/>
            <a:endParaRPr lang="en-AU" dirty="0">
              <a:solidFill>
                <a:srgbClr val="FFFF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A9FED-697C-79A3-9EF8-BD8F6CD5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986" y="328884"/>
            <a:ext cx="3759586" cy="501278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6A993-B12F-15DC-53A6-29E789D92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D5D615-7AB6-536D-D033-9924B4F46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850" y="-4150"/>
            <a:ext cx="7232617" cy="567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6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49491-B5D4-5D91-7E0B-AAC7CA692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Australian involvement?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E37F5A6-2F7C-8808-C2E0-274ACC4253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5194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29B72C9-8B40-EAF8-D831-24400222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B1E6AF0-B5BC-4386-867C-8A15FA832313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DE1013-626A-F781-E14F-75FF1FF6C29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 dirty="0">
                <a:solidFill>
                  <a:srgbClr val="FFFF00"/>
                </a:solidFill>
                <a:latin typeface="Liberation Sans" pitchFamily="34"/>
              </a:rPr>
              <a:t>UNSW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D6F33-9E66-84BF-8CB9-F39199ED22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891865" y="1326600"/>
            <a:ext cx="4684133" cy="3288239"/>
          </a:xfrm>
        </p:spPr>
        <p:txBody>
          <a:bodyPr vert="horz">
            <a:normAutofit fontScale="92500" lnSpcReduction="10000"/>
          </a:bodyPr>
          <a:lstStyle/>
          <a:p>
            <a:pPr lvl="0">
              <a:buSzPct val="45000"/>
            </a:pPr>
            <a:r>
              <a:rPr lang="en-US" dirty="0">
                <a:solidFill>
                  <a:srgbClr val="FFFF00"/>
                </a:solidFill>
                <a:latin typeface="Liberation Sans" pitchFamily="34"/>
              </a:rPr>
              <a:t>Obtained a license and source code for v4 in late 1973</a:t>
            </a:r>
          </a:p>
          <a:p>
            <a:pPr lvl="0">
              <a:buSzPct val="45000"/>
            </a:pPr>
            <a:r>
              <a:rPr lang="en-US" dirty="0">
                <a:solidFill>
                  <a:srgbClr val="FFFF00"/>
                </a:solidFill>
                <a:latin typeface="Liberation Sans" pitchFamily="34"/>
              </a:rPr>
              <a:t>Updated to V6 on its release</a:t>
            </a:r>
          </a:p>
          <a:p>
            <a:pPr lvl="0">
              <a:buSzPct val="45000"/>
            </a:pPr>
            <a:r>
              <a:rPr lang="en-US" dirty="0">
                <a:solidFill>
                  <a:srgbClr val="FFFF00"/>
                </a:solidFill>
                <a:latin typeface="Liberation Sans" pitchFamily="34"/>
              </a:rPr>
              <a:t>Used a PDP11/40 to both use and teach UNIX</a:t>
            </a:r>
          </a:p>
        </p:txBody>
      </p:sp>
      <p:pic>
        <p:nvPicPr>
          <p:cNvPr id="7" name="Picture 6" descr="John Lions Chair">
            <a:extLst>
              <a:ext uri="{FF2B5EF4-FFF2-40B4-BE49-F238E27FC236}">
                <a16:creationId xmlns:a16="http://schemas.microsoft.com/office/drawing/2014/main" id="{4AE24BB0-CBA0-8431-DA71-6C19BAC1D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92" y="1189068"/>
            <a:ext cx="4259448" cy="23903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806363-E37B-7628-B5F7-E476ADE7B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Australian Unix Users Group - AUUG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C4610-6F03-1634-2747-61852E55A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Started in 1975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2</a:t>
            </a:r>
            <a:r>
              <a:rPr lang="en-AU" baseline="30000" dirty="0">
                <a:solidFill>
                  <a:srgbClr val="FFFF00"/>
                </a:solidFill>
              </a:rPr>
              <a:t>nd</a:t>
            </a:r>
            <a:r>
              <a:rPr lang="en-AU" dirty="0">
                <a:solidFill>
                  <a:srgbClr val="FFFF00"/>
                </a:solidFill>
              </a:rPr>
              <a:t> user group worldwide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Beaten by </a:t>
            </a:r>
            <a:r>
              <a:rPr lang="en-AU" dirty="0" err="1">
                <a:solidFill>
                  <a:srgbClr val="FFFF00"/>
                </a:solidFill>
              </a:rPr>
              <a:t>Usenix</a:t>
            </a:r>
            <a:r>
              <a:rPr lang="en-AU" dirty="0">
                <a:solidFill>
                  <a:srgbClr val="FFFF00"/>
                </a:solidFill>
              </a:rPr>
              <a:t> by a couple of months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Published a newsletter from late 1978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dirty="0">
              <a:solidFill>
                <a:srgbClr val="FFFF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AUUGN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04A78D-2EC3-7754-110B-D1C1BE353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D9E062-4EE0-4704-A404-54AC5DACF5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53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FBC22-A9D6-C9BA-4CC5-5AB5E94B4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864C75-352A-1943-DF5D-BC8E570A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Australian Unix Users Group - AUUG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10FA7-9AE3-DC40-6AC7-4F10FD855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Started in 1975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2</a:t>
            </a:r>
            <a:r>
              <a:rPr lang="en-AU" baseline="30000" dirty="0">
                <a:solidFill>
                  <a:srgbClr val="FFFF00"/>
                </a:solidFill>
              </a:rPr>
              <a:t>nd</a:t>
            </a:r>
            <a:r>
              <a:rPr lang="en-AU" dirty="0">
                <a:solidFill>
                  <a:srgbClr val="FFFF00"/>
                </a:solidFill>
              </a:rPr>
              <a:t> user group worldwide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Beaten by </a:t>
            </a:r>
            <a:r>
              <a:rPr lang="en-AU" dirty="0" err="1">
                <a:solidFill>
                  <a:srgbClr val="FFFF00"/>
                </a:solidFill>
              </a:rPr>
              <a:t>Usenix</a:t>
            </a:r>
            <a:r>
              <a:rPr lang="en-AU" dirty="0">
                <a:solidFill>
                  <a:srgbClr val="FFFF00"/>
                </a:solidFill>
              </a:rPr>
              <a:t> by a couple of months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Published a newsletter from late 1978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dirty="0">
              <a:solidFill>
                <a:srgbClr val="FFFF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AUUGN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7FF4C8-2795-C8B7-A148-E60CA968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0D9E062-4EE0-4704-A404-54AC5DACF5DD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5137E4-C4ED-4BD7-4A66-22784DAA9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31" y="0"/>
            <a:ext cx="8471562" cy="567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583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092055A-E26C-49D5-E5F8-6DA3BB32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3C68DED-CFAB-471D-840E-4C55382CAE42}" type="slidenum">
              <a:rPr lang="en-US" smtClean="0"/>
              <a:t>13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E243D7-57B3-56BB-8FE4-F6FB9518638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FFFF00"/>
                </a:solidFill>
              </a:rPr>
              <a:t>Lions caused chaos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980B5791-B4DD-3EFE-96D8-56C76EA23F47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522841" y="782693"/>
            <a:ext cx="6693079" cy="4703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FE0A-DDD0-7AB2-BC6F-150C6D9BB2B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FFFF00"/>
                </a:solidFill>
              </a:rPr>
              <a:t>A legal version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3BB9BA-4EEA-B47E-9D75-81CC665E9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327150"/>
            <a:ext cx="2848403" cy="32877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Published in 1998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Still relevant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A80CE5B-3B43-3ADB-05BB-F82AFD7BF8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A8C0172-26CA-C7CE-DC90-A9D1ED384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F2B873-1B7A-4233-85D3-65AA26137AA6}" type="slidenum">
              <a:rPr lang="en-US" smtClean="0"/>
              <a:t>14</a:t>
            </a:fld>
            <a:endParaRPr lang="en-US"/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F2A7F13C-0BA9-6DD6-7DAF-908CB3BD8AF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452023" y="720000"/>
            <a:ext cx="6347160" cy="476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50E0C7A-E11A-962B-05A2-93F07FC1E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686AA4-6D67-43DD-A024-6677CC4BF514}" type="slidenum">
              <a:rPr lang="en-US" smtClean="0"/>
              <a:t>15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911DB-8EAA-2163-8BAD-785F4B19C75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FFFF00"/>
                </a:solidFill>
              </a:rPr>
              <a:t>2006 sponsored by alumni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ACBFFFBC-A1B7-5E2E-FE7D-969570E9C031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496879" y="763920"/>
            <a:ext cx="7086600" cy="4722479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3F7E7E9-6DC9-03CF-F6A9-D60D1F83F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8472CD7-D3BE-4690-A7F8-4C390B56AB5A}" type="slidenum">
              <a:rPr lang="en-US" smtClean="0"/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467B4-02C6-31B1-397B-5CB52C4D583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FFFF00"/>
                </a:solidFill>
              </a:rPr>
              <a:t>University of Wollongong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753355-9402-7CD9-1274-F40BBA4D897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68200" y="737640"/>
            <a:ext cx="5943600" cy="4932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17FE4-9C2C-D4A4-F4E9-BCB8FBE71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27C183-9E68-4954-5C69-376551B8E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8472CD7-D3BE-4690-A7F8-4C390B56AB5A}" type="slidenum">
              <a:rPr lang="en-US" smtClean="0"/>
              <a:t>17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7F58A-97FE-4394-1422-A7954F6DEF7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FFFF00"/>
                </a:solidFill>
              </a:rPr>
              <a:t>University of Wollongong</a:t>
            </a:r>
          </a:p>
        </p:txBody>
      </p:sp>
      <p:pic>
        <p:nvPicPr>
          <p:cNvPr id="3" name="">
            <a:extLst>
              <a:ext uri="{FF2B5EF4-FFF2-40B4-BE49-F238E27FC236}">
                <a16:creationId xmlns:a16="http://schemas.microsoft.com/office/drawing/2014/main" id="{8C3C3CB2-9760-6BA4-586F-62709FDB97F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068200" y="737640"/>
            <a:ext cx="5943600" cy="493236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90DC72-7131-BFE8-B3C5-56C9AF94C257}"/>
              </a:ext>
            </a:extLst>
          </p:cNvPr>
          <p:cNvSpPr txBox="1"/>
          <p:nvPr/>
        </p:nvSpPr>
        <p:spPr>
          <a:xfrm>
            <a:off x="1048126" y="2003491"/>
            <a:ext cx="8131874" cy="181588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FFFF00"/>
                </a:solidFill>
              </a:rPr>
              <a:t>Three academics, Juris </a:t>
            </a:r>
            <a:r>
              <a:rPr lang="en-AU" sz="2800" dirty="0" err="1">
                <a:solidFill>
                  <a:srgbClr val="FFFF00"/>
                </a:solidFill>
              </a:rPr>
              <a:t>Reinfelds</a:t>
            </a:r>
            <a:r>
              <a:rPr lang="en-AU" sz="2800" dirty="0">
                <a:solidFill>
                  <a:srgbClr val="FFFF00"/>
                </a:solidFill>
              </a:rPr>
              <a:t>, Richard Miller and Ross Nealon are credited with the fist port of UNIX to an </a:t>
            </a:r>
            <a:r>
              <a:rPr lang="en-AU" sz="2800" dirty="0" err="1">
                <a:solidFill>
                  <a:srgbClr val="FFFF00"/>
                </a:solidFill>
              </a:rPr>
              <a:t>Interdata</a:t>
            </a:r>
            <a:r>
              <a:rPr lang="en-AU" sz="2800" dirty="0">
                <a:solidFill>
                  <a:srgbClr val="FFFF00"/>
                </a:solidFill>
              </a:rPr>
              <a:t> system. The first successful port of any computer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3508919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CEBB-7B6C-BC4D-EC47-18FCB92E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University of </a:t>
            </a:r>
            <a:r>
              <a:rPr lang="en-AU" dirty="0" err="1">
                <a:solidFill>
                  <a:srgbClr val="FFFF00"/>
                </a:solidFill>
              </a:rPr>
              <a:t>Calironia</a:t>
            </a:r>
            <a:r>
              <a:rPr lang="en-AU" dirty="0">
                <a:solidFill>
                  <a:srgbClr val="FFFF00"/>
                </a:solidFill>
              </a:rPr>
              <a:t>, Berkeley -UCB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A07B8-8563-C4C1-037B-E5BCEBEAD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Computer Science Research Group (CSRG)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Berkeley acquired a V4 license in 1974- PDP 11/45 (shared!)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Ken Thompson, on sabbatical, helped install V6 on a PDP 11/70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Bill Joy writes some basic add-ons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Compiled as 1BSD March 1978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804B1-EABF-F7A7-43F5-D524AAE8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20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8AD65-22E9-DB8B-966B-C9D2B79A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BSD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E8557-6E6D-D3DF-26E5-1811DA8E2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2BSD in May ‘79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Adds vi and </a:t>
            </a:r>
            <a:r>
              <a:rPr lang="en-AU" dirty="0" err="1">
                <a:solidFill>
                  <a:srgbClr val="FFFF00"/>
                </a:solidFill>
              </a:rPr>
              <a:t>csh</a:t>
            </a:r>
            <a:endParaRPr lang="en-AU" dirty="0">
              <a:solidFill>
                <a:srgbClr val="FFFF00"/>
              </a:solidFill>
            </a:endParaRP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Still just add-ons, needed a V6 license as well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3BSD late ‘79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Included a kernel based on a VAX 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16903-F31A-5592-BD3A-8C699BFA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6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A4E46-AF61-F4CA-2AAE-68A5F433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1980s – UNIX commercialisation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0C0CD-142F-2504-3286-4556349FD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Vendors could port and ship UNIX (V7)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Could NOT call it UNIX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Berkeley CSRG continued work on BSD working up 4 BSD in several versions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dirty="0">
              <a:solidFill>
                <a:srgbClr val="FFFF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AT&amp;T released SYSIII and SYSV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44A0C-750D-9EB0-7885-2BE8717D3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52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0860B39A-FB7F-F15C-736C-C4170599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9EDD58-5BA3-4B97-9AAE-E571A3FE8132}" type="slidenum">
              <a:rPr lang="en-US" smtClean="0"/>
              <a:t>21</a:t>
            </a:fld>
            <a:endParaRPr lang="en-US"/>
          </a:p>
        </p:txBody>
      </p:sp>
      <p:pic>
        <p:nvPicPr>
          <p:cNvPr id="2" name="">
            <a:extLst>
              <a:ext uri="{FF2B5EF4-FFF2-40B4-BE49-F238E27FC236}">
                <a16:creationId xmlns:a16="http://schemas.microsoft.com/office/drawing/2014/main" id="{AEA18046-AF58-CD0B-BF87-D8800DB4AE65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57200" y="795600"/>
            <a:ext cx="3429000" cy="46908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D7C992D-12C5-7186-AFEC-33443454B2A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r>
              <a:rPr lang="en-US" dirty="0">
                <a:solidFill>
                  <a:srgbClr val="FFFF00"/>
                </a:solidFill>
              </a:rPr>
              <a:t>Possibly first microcomputer 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B4696-A9B2-F7DB-3D87-2CF44500FB3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152680" y="1326600"/>
            <a:ext cx="4426920" cy="3288239"/>
          </a:xfrm>
        </p:spPr>
        <p:txBody>
          <a:bodyPr vert="horz"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Released in 1980 ONIX was V7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Z8002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00"/>
                </a:solidFill>
              </a:rPr>
              <a:t>Sold ‘00s to AT&amp;T as office document production and management systems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3209-7A02-7D1E-61C0-AC5971F15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Lawyers at 30 paces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7461-8E34-B67F-F53C-D054AA2C5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02" y="940674"/>
            <a:ext cx="9072000" cy="4239767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NET2 is released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2 projects take this base to build Intel 386 versions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BSD/ O/S by BSDI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386BSD by Jolitz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USL fires the shot that halted these projects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1994 with Berkeley mostly winning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3 files removed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AT&amp;T copyright added to 70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2E6F4-6ABE-6D04-780B-4A1A23C4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71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2A6614-2AAD-0A90-A04C-066B9A80B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78" y="72000"/>
            <a:ext cx="9540000" cy="648000"/>
          </a:xfrm>
        </p:spPr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Berkeley exits stage left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97D69D-A0FF-9CEE-A447-6C63CD742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4.4BSD released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4.4BSD Lite, then Lite 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CSRG disbanded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What we know as BSD based o/s evolved as open source from 4.4BSD Lite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4219F-C751-3BD2-DDEE-8295C7EB8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289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A96CA-119F-E4F7-ED87-3B02838B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BSD Development moves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64FC8-7883-2732-A877-5CFB8B0DE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Developed as complete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Tightly controlled development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BSD License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Permissive</a:t>
            </a:r>
          </a:p>
          <a:p>
            <a:pPr marL="1143000" lvl="1" indent="-457200"/>
            <a:endParaRPr lang="en-AU" dirty="0">
              <a:solidFill>
                <a:srgbClr val="FFFF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2F4DAE-B33F-39B4-B13B-3E33F9F1A994}"/>
              </a:ext>
            </a:extLst>
          </p:cNvPr>
          <p:cNvSpPr txBox="1"/>
          <p:nvPr/>
        </p:nvSpPr>
        <p:spPr>
          <a:xfrm>
            <a:off x="469368" y="787695"/>
            <a:ext cx="9373469" cy="37856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Copyright &lt;YEAR&gt; &lt;COPYRIGHT HOLDER&gt;</a:t>
            </a:r>
          </a:p>
          <a:p>
            <a:r>
              <a:rPr lang="en-AU" sz="2400" dirty="0"/>
              <a:t>Redistribution and use in source and binary forms, with or without modification, are permitted provided that the following conditions are met:</a:t>
            </a:r>
          </a:p>
          <a:p>
            <a:pPr marL="457200" indent="-457200">
              <a:buAutoNum type="arabicPeriod"/>
            </a:pPr>
            <a:r>
              <a:rPr lang="en-AU" sz="2400" dirty="0"/>
              <a:t>Redistributions of source code must retain the above copyright notice, this list of conditions and the following disclaimer.</a:t>
            </a:r>
          </a:p>
          <a:p>
            <a:pPr marL="457200" indent="-457200">
              <a:buAutoNum type="arabicPeriod"/>
            </a:pPr>
            <a:r>
              <a:rPr lang="en-AU" sz="2400" dirty="0"/>
              <a:t>Redistributions in binary form must reproduce the above copyright notice, this list of conditions and the following disclaimer in the documentation and/or other materials provided with the distribution.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43008-9FFE-5DA2-670F-FAB32D87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36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5E5F-3490-0D8F-A772-9C92326E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The first BSDs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F3F262-1BA8-B3D5-7F21-932CA6259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42" y="956334"/>
            <a:ext cx="3133628" cy="1878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481984-62DB-792B-D26C-5417B9118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596" y="822349"/>
            <a:ext cx="2540579" cy="19435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E22FEAD-8057-65FD-5DD7-CDAE7C702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337" y="2765892"/>
            <a:ext cx="4051949" cy="2633767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C702EB9-F0BA-0547-C565-455DAEE0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19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8FAA4-A373-7E15-C780-C40DEAC67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E03B-D7F6-5F31-A2C1-20E3296EF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The first BSDs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592FC4-4FF4-76E7-F02B-F71DDB71D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042" y="956334"/>
            <a:ext cx="3133628" cy="1878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C58A58-9E8C-B248-7747-CC8860426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767" y="3123175"/>
            <a:ext cx="2540579" cy="19435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0819FA-5E69-7A5E-5C79-25A7EAE296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49" y="2876676"/>
            <a:ext cx="2428407" cy="26469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A61A90-E38E-612C-F6DC-062B26B98D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183" y="329901"/>
            <a:ext cx="4051949" cy="2633767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4329E61-3060-3254-6401-4427E54ED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55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78AA5A-33FA-1974-1E4E-584EED763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FreeBSD supported platforms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EDBD87-5854-3D64-CD74-986664DDC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AU" sz="4200" dirty="0">
                <a:solidFill>
                  <a:srgbClr val="FFFF00"/>
                </a:solidFill>
              </a:rPr>
              <a:t>Tier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4200" dirty="0">
                <a:solidFill>
                  <a:srgbClr val="FFFF00"/>
                </a:solidFill>
              </a:rPr>
              <a:t>x86-64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4200" dirty="0">
                <a:solidFill>
                  <a:srgbClr val="FFFF00"/>
                </a:solidFill>
              </a:rPr>
              <a:t>AArch64	64-bit ARM (ARMv9 and ARMv8)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4200" dirty="0">
              <a:solidFill>
                <a:srgbClr val="FFFF00"/>
              </a:solidFill>
            </a:endParaRPr>
          </a:p>
          <a:p>
            <a:r>
              <a:rPr lang="en-AU" sz="4200" dirty="0">
                <a:solidFill>
                  <a:srgbClr val="FFFF00"/>
                </a:solidFill>
              </a:rPr>
              <a:t>Tier 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4200" dirty="0">
                <a:solidFill>
                  <a:srgbClr val="FFFF00"/>
                </a:solidFill>
              </a:rPr>
              <a:t>AArch32 32-bit ARM (ARM-v7 and up)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4200" dirty="0">
                <a:solidFill>
                  <a:srgbClr val="FFFF00"/>
                </a:solidFill>
              </a:rPr>
              <a:t>64-bit POWER 64-bit, bi-endian POWER9 and POWER8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4200" dirty="0">
                <a:solidFill>
                  <a:srgbClr val="FFFF00"/>
                </a:solidFill>
              </a:rPr>
              <a:t>powerpc64 64-bit, big-endian POWER9 through POWER4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4200" dirty="0">
                <a:solidFill>
                  <a:srgbClr val="FFFF00"/>
                </a:solidFill>
              </a:rPr>
              <a:t>RISC-V riscv64 64-bit RISC-V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dirty="0">
              <a:solidFill>
                <a:srgbClr val="FFFF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dirty="0">
              <a:solidFill>
                <a:srgbClr val="FFFF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A6D8D-5A7E-4495-2FE1-A8F96B4F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00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D44C-CB1D-5862-F9F7-69F3AE20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OpenBSD supported platforms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31807-63AE-7D64-4689-50BECAC5A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15" y="759166"/>
            <a:ext cx="9072000" cy="3288239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</a:pPr>
            <a:r>
              <a:rPr lang="en-AU" sz="1800" dirty="0">
                <a:solidFill>
                  <a:srgbClr val="FFFF00"/>
                </a:solidFill>
              </a:rPr>
              <a:t>alpha	Digital Alpha-based systems</a:t>
            </a:r>
          </a:p>
          <a:p>
            <a:pPr>
              <a:spcBef>
                <a:spcPts val="300"/>
              </a:spcBef>
            </a:pPr>
            <a:r>
              <a:rPr lang="en-AU" sz="1800" dirty="0">
                <a:solidFill>
                  <a:srgbClr val="FFFF00"/>
                </a:solidFill>
              </a:rPr>
              <a:t>amd64	AMD64-based systems</a:t>
            </a:r>
          </a:p>
          <a:p>
            <a:pPr>
              <a:spcBef>
                <a:spcPts val="300"/>
              </a:spcBef>
            </a:pPr>
            <a:r>
              <a:rPr lang="en-AU" sz="1800" dirty="0">
                <a:solidFill>
                  <a:srgbClr val="FFFF00"/>
                </a:solidFill>
              </a:rPr>
              <a:t>arm64	64-bit ARM systems</a:t>
            </a:r>
          </a:p>
          <a:p>
            <a:pPr>
              <a:spcBef>
                <a:spcPts val="300"/>
              </a:spcBef>
            </a:pPr>
            <a:r>
              <a:rPr lang="en-AU" sz="1800" dirty="0">
                <a:solidFill>
                  <a:srgbClr val="FFFF00"/>
                </a:solidFill>
              </a:rPr>
              <a:t>armv7	ARM-based devices, such as </a:t>
            </a:r>
            <a:r>
              <a:rPr lang="en-AU" sz="1800" dirty="0" err="1">
                <a:solidFill>
                  <a:srgbClr val="FFFF00"/>
                </a:solidFill>
              </a:rPr>
              <a:t>BeagleBone</a:t>
            </a:r>
            <a:r>
              <a:rPr lang="en-AU" sz="1800" dirty="0">
                <a:solidFill>
                  <a:srgbClr val="FFFF00"/>
                </a:solidFill>
              </a:rPr>
              <a:t>, </a:t>
            </a:r>
            <a:r>
              <a:rPr lang="en-AU" sz="1800" dirty="0" err="1">
                <a:solidFill>
                  <a:srgbClr val="FFFF00"/>
                </a:solidFill>
              </a:rPr>
              <a:t>PandaBoard</a:t>
            </a:r>
            <a:r>
              <a:rPr lang="en-AU" sz="1800" dirty="0">
                <a:solidFill>
                  <a:srgbClr val="FFFF00"/>
                </a:solidFill>
              </a:rPr>
              <a:t>, </a:t>
            </a:r>
            <a:r>
              <a:rPr lang="en-AU" sz="1800" dirty="0" err="1">
                <a:solidFill>
                  <a:srgbClr val="FFFF00"/>
                </a:solidFill>
              </a:rPr>
              <a:t>CuBox</a:t>
            </a:r>
            <a:r>
              <a:rPr lang="en-AU" sz="1800" dirty="0">
                <a:solidFill>
                  <a:srgbClr val="FFFF00"/>
                </a:solidFill>
              </a:rPr>
              <a:t>-I etc</a:t>
            </a:r>
          </a:p>
          <a:p>
            <a:pPr>
              <a:spcBef>
                <a:spcPts val="300"/>
              </a:spcBef>
            </a:pPr>
            <a:r>
              <a:rPr lang="en-AU" sz="1800" dirty="0" err="1">
                <a:solidFill>
                  <a:srgbClr val="FFFF00"/>
                </a:solidFill>
              </a:rPr>
              <a:t>hppa</a:t>
            </a:r>
            <a:r>
              <a:rPr lang="en-AU" sz="1800" dirty="0">
                <a:solidFill>
                  <a:srgbClr val="FFFF00"/>
                </a:solidFill>
              </a:rPr>
              <a:t>	Hewlett-Packard Precision Architecture (PA-RISC) systems</a:t>
            </a:r>
          </a:p>
          <a:p>
            <a:pPr>
              <a:spcBef>
                <a:spcPts val="300"/>
              </a:spcBef>
            </a:pPr>
            <a:r>
              <a:rPr lang="en-AU" sz="1800" dirty="0">
                <a:solidFill>
                  <a:srgbClr val="FFFF00"/>
                </a:solidFill>
              </a:rPr>
              <a:t>i386	Standard PC and clones based on the Intel i386 architecture</a:t>
            </a:r>
          </a:p>
          <a:p>
            <a:pPr>
              <a:spcBef>
                <a:spcPts val="300"/>
              </a:spcBef>
            </a:pPr>
            <a:r>
              <a:rPr lang="en-AU" sz="1800" dirty="0" err="1">
                <a:solidFill>
                  <a:srgbClr val="FFFF00"/>
                </a:solidFill>
              </a:rPr>
              <a:t>landisk</a:t>
            </a:r>
            <a:r>
              <a:rPr lang="en-AU" sz="1800" dirty="0">
                <a:solidFill>
                  <a:srgbClr val="FFFF00"/>
                </a:solidFill>
              </a:rPr>
              <a:t>	IO-DATA </a:t>
            </a:r>
            <a:r>
              <a:rPr lang="en-AU" sz="1800" dirty="0" err="1">
                <a:solidFill>
                  <a:srgbClr val="FFFF00"/>
                </a:solidFill>
              </a:rPr>
              <a:t>Landisk</a:t>
            </a:r>
            <a:r>
              <a:rPr lang="en-AU" sz="1800" dirty="0">
                <a:solidFill>
                  <a:srgbClr val="FFFF00"/>
                </a:solidFill>
              </a:rPr>
              <a:t> systems (such as USL-5P) based on the SH4 </a:t>
            </a:r>
            <a:r>
              <a:rPr lang="en-AU" sz="1800" dirty="0" err="1">
                <a:solidFill>
                  <a:srgbClr val="FFFF00"/>
                </a:solidFill>
              </a:rPr>
              <a:t>cpu</a:t>
            </a:r>
            <a:endParaRPr lang="en-AU" sz="1800" dirty="0">
              <a:solidFill>
                <a:srgbClr val="FFFF00"/>
              </a:solidFill>
            </a:endParaRPr>
          </a:p>
          <a:p>
            <a:pPr>
              <a:spcBef>
                <a:spcPts val="300"/>
              </a:spcBef>
            </a:pPr>
            <a:r>
              <a:rPr lang="en-AU" sz="1800" dirty="0" err="1">
                <a:solidFill>
                  <a:srgbClr val="FFFF00"/>
                </a:solidFill>
              </a:rPr>
              <a:t>Loongson</a:t>
            </a:r>
            <a:r>
              <a:rPr lang="en-AU" sz="1800" dirty="0">
                <a:solidFill>
                  <a:srgbClr val="FFFF00"/>
                </a:solidFill>
              </a:rPr>
              <a:t>   </a:t>
            </a:r>
            <a:r>
              <a:rPr lang="en-AU" sz="1800" dirty="0" err="1">
                <a:solidFill>
                  <a:srgbClr val="FFFF00"/>
                </a:solidFill>
              </a:rPr>
              <a:t>Loongson</a:t>
            </a:r>
            <a:r>
              <a:rPr lang="en-AU" sz="1800" dirty="0">
                <a:solidFill>
                  <a:srgbClr val="FFFF00"/>
                </a:solidFill>
              </a:rPr>
              <a:t> 2E- and 2F-based systems, such as the </a:t>
            </a:r>
            <a:r>
              <a:rPr lang="en-AU" sz="1800" dirty="0" err="1">
                <a:solidFill>
                  <a:srgbClr val="FFFF00"/>
                </a:solidFill>
              </a:rPr>
              <a:t>Lemote</a:t>
            </a:r>
            <a:r>
              <a:rPr lang="en-AU" sz="1800" dirty="0">
                <a:solidFill>
                  <a:srgbClr val="FFFF00"/>
                </a:solidFill>
              </a:rPr>
              <a:t> </a:t>
            </a:r>
            <a:r>
              <a:rPr lang="en-AU" sz="1800" dirty="0" err="1">
                <a:solidFill>
                  <a:srgbClr val="FFFF00"/>
                </a:solidFill>
              </a:rPr>
              <a:t>Fuloong</a:t>
            </a:r>
            <a:r>
              <a:rPr lang="en-AU" sz="1800" dirty="0">
                <a:solidFill>
                  <a:srgbClr val="FFFF00"/>
                </a:solidFill>
              </a:rPr>
              <a:t> 		and </a:t>
            </a:r>
            <a:r>
              <a:rPr lang="en-AU" sz="1800" dirty="0" err="1">
                <a:solidFill>
                  <a:srgbClr val="FFFF00"/>
                </a:solidFill>
              </a:rPr>
              <a:t>Yeeloong</a:t>
            </a:r>
            <a:r>
              <a:rPr lang="en-AU" sz="1800" dirty="0">
                <a:solidFill>
                  <a:srgbClr val="FFFF00"/>
                </a:solidFill>
              </a:rPr>
              <a:t>, </a:t>
            </a:r>
            <a:r>
              <a:rPr lang="en-AU" sz="1800" dirty="0" err="1">
                <a:solidFill>
                  <a:srgbClr val="FFFF00"/>
                </a:solidFill>
              </a:rPr>
              <a:t>Gdium</a:t>
            </a:r>
            <a:r>
              <a:rPr lang="en-AU" sz="1800" dirty="0">
                <a:solidFill>
                  <a:srgbClr val="FFFF00"/>
                </a:solidFill>
              </a:rPr>
              <a:t> Liberty, etc.</a:t>
            </a:r>
          </a:p>
          <a:p>
            <a:pPr>
              <a:spcBef>
                <a:spcPts val="300"/>
              </a:spcBef>
            </a:pPr>
            <a:r>
              <a:rPr lang="en-AU" sz="1800" dirty="0">
                <a:solidFill>
                  <a:srgbClr val="FFFF00"/>
                </a:solidFill>
              </a:rPr>
              <a:t>Luna88k    Omron LUNA-88K and LUNA-88K2 workstations</a:t>
            </a:r>
          </a:p>
          <a:p>
            <a:pPr>
              <a:spcBef>
                <a:spcPts val="300"/>
              </a:spcBef>
            </a:pPr>
            <a:r>
              <a:rPr lang="en-AU" sz="1800" dirty="0" err="1">
                <a:solidFill>
                  <a:srgbClr val="FFFF00"/>
                </a:solidFill>
              </a:rPr>
              <a:t>macppc</a:t>
            </a:r>
            <a:r>
              <a:rPr lang="en-AU" sz="1800" dirty="0">
                <a:solidFill>
                  <a:srgbClr val="FFFF00"/>
                </a:solidFill>
              </a:rPr>
              <a:t>	     Apple New World PowerPC-based machines, from the iMac onwards</a:t>
            </a:r>
          </a:p>
          <a:p>
            <a:pPr>
              <a:spcBef>
                <a:spcPts val="300"/>
              </a:spcBef>
            </a:pPr>
            <a:r>
              <a:rPr lang="en-AU" sz="1800" dirty="0" err="1">
                <a:solidFill>
                  <a:srgbClr val="FFFF00"/>
                </a:solidFill>
              </a:rPr>
              <a:t>octeon</a:t>
            </a:r>
            <a:r>
              <a:rPr lang="en-AU" sz="1800" dirty="0">
                <a:solidFill>
                  <a:srgbClr val="FFFF00"/>
                </a:solidFill>
              </a:rPr>
              <a:t>	    Cavium </a:t>
            </a:r>
            <a:r>
              <a:rPr lang="en-AU" sz="1800" dirty="0" err="1">
                <a:solidFill>
                  <a:srgbClr val="FFFF00"/>
                </a:solidFill>
              </a:rPr>
              <a:t>Octeon</a:t>
            </a:r>
            <a:r>
              <a:rPr lang="en-AU" sz="1800" dirty="0">
                <a:solidFill>
                  <a:srgbClr val="FFFF00"/>
                </a:solidFill>
              </a:rPr>
              <a:t>-based MIPS64 systems</a:t>
            </a:r>
          </a:p>
          <a:p>
            <a:pPr>
              <a:spcBef>
                <a:spcPts val="300"/>
              </a:spcBef>
            </a:pPr>
            <a:r>
              <a:rPr lang="en-AU" sz="1800" dirty="0">
                <a:solidFill>
                  <a:srgbClr val="FFFF00"/>
                </a:solidFill>
              </a:rPr>
              <a:t>powerpc64	IBM POWER-based </a:t>
            </a:r>
            <a:r>
              <a:rPr lang="en-AU" sz="1800" dirty="0" err="1">
                <a:solidFill>
                  <a:srgbClr val="FFFF00"/>
                </a:solidFill>
              </a:rPr>
              <a:t>PowerNV</a:t>
            </a:r>
            <a:r>
              <a:rPr lang="en-AU" sz="1800" dirty="0">
                <a:solidFill>
                  <a:srgbClr val="FFFF00"/>
                </a:solidFill>
              </a:rPr>
              <a:t> systems</a:t>
            </a:r>
          </a:p>
          <a:p>
            <a:pPr>
              <a:spcBef>
                <a:spcPts val="300"/>
              </a:spcBef>
            </a:pPr>
            <a:r>
              <a:rPr lang="en-AU" sz="1800" dirty="0">
                <a:solidFill>
                  <a:srgbClr val="FFFF00"/>
                </a:solidFill>
              </a:rPr>
              <a:t>riscv64	     64-bit RISC-V systems</a:t>
            </a:r>
          </a:p>
          <a:p>
            <a:pPr>
              <a:spcBef>
                <a:spcPts val="300"/>
              </a:spcBef>
            </a:pPr>
            <a:r>
              <a:rPr lang="en-AU" sz="1800" dirty="0">
                <a:solidFill>
                  <a:srgbClr val="FFFF00"/>
                </a:solidFill>
              </a:rPr>
              <a:t>sparc64	Sun UltraSPARC and Fujitsu SPARC64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39AD8-1D4C-616C-7512-2D6093CE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903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A5DD76-F7F9-F4CF-72BE-1A7FA9BF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NetBSD supported platforms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A4BF0C-0949-1848-937D-0C077293E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AU" sz="6200" dirty="0">
                <a:solidFill>
                  <a:srgbClr val="FFFF00"/>
                </a:solidFill>
              </a:rPr>
              <a:t>Tier 1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Port	CPU		Machines	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aarch64	aarch64		64-bit ARM CPUs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amd64	x86_64		64-bit x86-family machines with AMD and Intel CPUs</a:t>
            </a:r>
          </a:p>
          <a:p>
            <a:pPr>
              <a:spcBef>
                <a:spcPts val="500"/>
              </a:spcBef>
            </a:pPr>
            <a:r>
              <a:rPr lang="en-AU" dirty="0" err="1">
                <a:solidFill>
                  <a:srgbClr val="FFFF00"/>
                </a:solidFill>
              </a:rPr>
              <a:t>evbarm</a:t>
            </a:r>
            <a:r>
              <a:rPr lang="en-AU" dirty="0">
                <a:solidFill>
                  <a:srgbClr val="FFFF00"/>
                </a:solidFill>
              </a:rPr>
              <a:t>	arm		ARM evaluation boards</a:t>
            </a:r>
          </a:p>
          <a:p>
            <a:pPr>
              <a:spcBef>
                <a:spcPts val="500"/>
              </a:spcBef>
            </a:pPr>
            <a:r>
              <a:rPr lang="en-AU" dirty="0" err="1">
                <a:solidFill>
                  <a:srgbClr val="FFFF00"/>
                </a:solidFill>
              </a:rPr>
              <a:t>evbmips</a:t>
            </a:r>
            <a:r>
              <a:rPr lang="en-AU" dirty="0">
                <a:solidFill>
                  <a:srgbClr val="FFFF00"/>
                </a:solidFill>
              </a:rPr>
              <a:t>	</a:t>
            </a:r>
            <a:r>
              <a:rPr lang="en-AU" dirty="0" err="1">
                <a:solidFill>
                  <a:srgbClr val="FFFF00"/>
                </a:solidFill>
              </a:rPr>
              <a:t>mips</a:t>
            </a:r>
            <a:r>
              <a:rPr lang="en-AU" dirty="0">
                <a:solidFill>
                  <a:srgbClr val="FFFF00"/>
                </a:solidFill>
              </a:rPr>
              <a:t>		MIPS-based evaluation boards</a:t>
            </a:r>
          </a:p>
          <a:p>
            <a:pPr>
              <a:spcBef>
                <a:spcPts val="500"/>
              </a:spcBef>
            </a:pPr>
            <a:r>
              <a:rPr lang="en-AU" dirty="0" err="1">
                <a:solidFill>
                  <a:srgbClr val="FFFF00"/>
                </a:solidFill>
              </a:rPr>
              <a:t>evbppc</a:t>
            </a:r>
            <a:r>
              <a:rPr lang="en-AU" dirty="0">
                <a:solidFill>
                  <a:srgbClr val="FFFF00"/>
                </a:solidFill>
              </a:rPr>
              <a:t>	</a:t>
            </a:r>
            <a:r>
              <a:rPr lang="en-AU" dirty="0" err="1">
                <a:solidFill>
                  <a:srgbClr val="FFFF00"/>
                </a:solidFill>
              </a:rPr>
              <a:t>powerpc</a:t>
            </a:r>
            <a:r>
              <a:rPr lang="en-AU" dirty="0">
                <a:solidFill>
                  <a:srgbClr val="FFFF00"/>
                </a:solidFill>
              </a:rPr>
              <a:t>		PowerPC-based evaluation boards</a:t>
            </a:r>
          </a:p>
          <a:p>
            <a:pPr>
              <a:spcBef>
                <a:spcPts val="500"/>
              </a:spcBef>
            </a:pPr>
            <a:r>
              <a:rPr lang="en-AU" dirty="0" err="1">
                <a:solidFill>
                  <a:srgbClr val="FFFF00"/>
                </a:solidFill>
              </a:rPr>
              <a:t>hpcarm</a:t>
            </a:r>
            <a:r>
              <a:rPr lang="en-AU" dirty="0">
                <a:solidFill>
                  <a:srgbClr val="FFFF00"/>
                </a:solidFill>
              </a:rPr>
              <a:t>	arm		</a:t>
            </a:r>
            <a:r>
              <a:rPr lang="en-AU" dirty="0" err="1">
                <a:solidFill>
                  <a:srgbClr val="FFFF00"/>
                </a:solidFill>
              </a:rPr>
              <a:t>StrongARM</a:t>
            </a:r>
            <a:r>
              <a:rPr lang="en-AU" dirty="0">
                <a:solidFill>
                  <a:srgbClr val="FFFF00"/>
                </a:solidFill>
              </a:rPr>
              <a:t> based Windows CE PDA machines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i386	i386		32-bit x86-family generic machines ("PC clones")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sparc64	</a:t>
            </a:r>
            <a:r>
              <a:rPr lang="en-AU" dirty="0" err="1">
                <a:solidFill>
                  <a:srgbClr val="FFFF00"/>
                </a:solidFill>
              </a:rPr>
              <a:t>sparc</a:t>
            </a:r>
            <a:r>
              <a:rPr lang="en-AU" dirty="0">
                <a:solidFill>
                  <a:srgbClr val="FFFF00"/>
                </a:solidFill>
              </a:rPr>
              <a:t>		Sun UltraSPARC (64-bit)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xen	i386, x86_64	Xen Virtual Machine Monitor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C77C7-7E19-8AB8-EEB1-CD130B10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15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8214-99AB-98BA-E40F-E1D25D5AD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6D215B-8AB8-C194-4706-05A0EE7C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NetBSD supported platforms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2CE95E-7B9F-655F-170A-8B1F07AC1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000" y="863978"/>
            <a:ext cx="9072000" cy="4022460"/>
          </a:xfrm>
        </p:spPr>
        <p:txBody>
          <a:bodyPr>
            <a:normAutofit fontScale="25000" lnSpcReduction="20000"/>
          </a:bodyPr>
          <a:lstStyle/>
          <a:p>
            <a:r>
              <a:rPr lang="en-AU" sz="9600" dirty="0">
                <a:solidFill>
                  <a:srgbClr val="FFFF00"/>
                </a:solidFill>
              </a:rPr>
              <a:t>Tier 2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Port	CPU	Machines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acorn32	arm	Acorn </a:t>
            </a:r>
            <a:r>
              <a:rPr lang="en-AU" sz="6400" dirty="0" err="1">
                <a:solidFill>
                  <a:srgbClr val="FFFF00"/>
                </a:solidFill>
              </a:rPr>
              <a:t>RiscPC</a:t>
            </a:r>
            <a:r>
              <a:rPr lang="en-AU" sz="6400" dirty="0">
                <a:solidFill>
                  <a:srgbClr val="FFFF00"/>
                </a:solidFill>
              </a:rPr>
              <a:t>/A7000/NC and compatibles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algor	</a:t>
            </a:r>
            <a:r>
              <a:rPr lang="en-AU" sz="6400" dirty="0" err="1">
                <a:solidFill>
                  <a:srgbClr val="FFFF00"/>
                </a:solidFill>
              </a:rPr>
              <a:t>mips</a:t>
            </a:r>
            <a:r>
              <a:rPr lang="en-AU" sz="6400" dirty="0">
                <a:solidFill>
                  <a:srgbClr val="FFFF00"/>
                </a:solidFill>
              </a:rPr>
              <a:t>	Algorithmics MIPS evaluation boards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alpha	alpha	Digital Alpha (64-bit)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amiga	m68k	Commodore Amiga, </a:t>
            </a:r>
            <a:r>
              <a:rPr lang="en-AU" sz="6400" dirty="0" err="1">
                <a:solidFill>
                  <a:srgbClr val="FFFF00"/>
                </a:solidFill>
              </a:rPr>
              <a:t>MacroSystem</a:t>
            </a:r>
            <a:r>
              <a:rPr lang="en-AU" sz="6400" dirty="0">
                <a:solidFill>
                  <a:srgbClr val="FFFF00"/>
                </a:solidFill>
              </a:rPr>
              <a:t> </a:t>
            </a:r>
            <a:r>
              <a:rPr lang="en-AU" sz="6400" dirty="0" err="1">
                <a:solidFill>
                  <a:srgbClr val="FFFF00"/>
                </a:solidFill>
              </a:rPr>
              <a:t>DraCo</a:t>
            </a:r>
            <a:r>
              <a:rPr lang="en-AU" sz="6400" dirty="0">
                <a:solidFill>
                  <a:srgbClr val="FFFF00"/>
                </a:solidFill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amigappc</a:t>
            </a:r>
            <a:r>
              <a:rPr lang="en-AU" sz="6400" dirty="0">
                <a:solidFill>
                  <a:srgbClr val="FFFF00"/>
                </a:solidFill>
              </a:rPr>
              <a:t>	</a:t>
            </a:r>
            <a:r>
              <a:rPr lang="en-AU" sz="6400" dirty="0" err="1">
                <a:solidFill>
                  <a:srgbClr val="FFFF00"/>
                </a:solidFill>
              </a:rPr>
              <a:t>powerpc</a:t>
            </a:r>
            <a:r>
              <a:rPr lang="en-AU" sz="6400" dirty="0">
                <a:solidFill>
                  <a:srgbClr val="FFFF00"/>
                </a:solidFill>
              </a:rPr>
              <a:t>	PowerPC-based Amiga boards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arc	</a:t>
            </a:r>
            <a:r>
              <a:rPr lang="en-AU" sz="6400" dirty="0" err="1">
                <a:solidFill>
                  <a:srgbClr val="FFFF00"/>
                </a:solidFill>
              </a:rPr>
              <a:t>mips</a:t>
            </a:r>
            <a:r>
              <a:rPr lang="en-AU" sz="6400" dirty="0">
                <a:solidFill>
                  <a:srgbClr val="FFFF00"/>
                </a:solidFill>
              </a:rPr>
              <a:t>	Machines following the Advanced RISC Computing spec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atari</a:t>
            </a:r>
            <a:r>
              <a:rPr lang="en-AU" sz="6400" dirty="0">
                <a:solidFill>
                  <a:srgbClr val="FFFF00"/>
                </a:solidFill>
              </a:rPr>
              <a:t>	m68k	Atari TT030, Falcon, Hades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bebox</a:t>
            </a:r>
            <a:r>
              <a:rPr lang="en-AU" sz="6400" dirty="0">
                <a:solidFill>
                  <a:srgbClr val="FFFF00"/>
                </a:solidFill>
              </a:rPr>
              <a:t>	</a:t>
            </a:r>
            <a:r>
              <a:rPr lang="en-AU" sz="6400" dirty="0" err="1">
                <a:solidFill>
                  <a:srgbClr val="FFFF00"/>
                </a:solidFill>
              </a:rPr>
              <a:t>powerpc</a:t>
            </a:r>
            <a:r>
              <a:rPr lang="en-AU" sz="6400" dirty="0">
                <a:solidFill>
                  <a:srgbClr val="FFFF00"/>
                </a:solidFill>
              </a:rPr>
              <a:t>	Be Inc's </a:t>
            </a:r>
            <a:r>
              <a:rPr lang="en-AU" sz="6400" dirty="0" err="1">
                <a:solidFill>
                  <a:srgbClr val="FFFF00"/>
                </a:solidFill>
              </a:rPr>
              <a:t>BeBox</a:t>
            </a:r>
            <a:r>
              <a:rPr lang="en-AU" sz="6400" dirty="0">
                <a:solidFill>
                  <a:srgbClr val="FFFF00"/>
                </a:solidFill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cats	arm	Chalice Technology's Strong Arm evaluation board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cesfic</a:t>
            </a:r>
            <a:r>
              <a:rPr lang="en-AU" sz="6400" dirty="0">
                <a:solidFill>
                  <a:srgbClr val="FFFF00"/>
                </a:solidFill>
              </a:rPr>
              <a:t>	m68k	CES's FIC8234 VME processor board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cobalt	</a:t>
            </a:r>
            <a:r>
              <a:rPr lang="en-AU" sz="6400" dirty="0" err="1">
                <a:solidFill>
                  <a:srgbClr val="FFFF00"/>
                </a:solidFill>
              </a:rPr>
              <a:t>mips</a:t>
            </a:r>
            <a:r>
              <a:rPr lang="en-AU" sz="6400" dirty="0">
                <a:solidFill>
                  <a:srgbClr val="FFFF00"/>
                </a:solidFill>
              </a:rPr>
              <a:t>	Cobalt Networks' </a:t>
            </a:r>
            <a:r>
              <a:rPr lang="en-AU" sz="6400" dirty="0" err="1">
                <a:solidFill>
                  <a:srgbClr val="FFFF00"/>
                </a:solidFill>
              </a:rPr>
              <a:t>Microservers</a:t>
            </a:r>
            <a:r>
              <a:rPr lang="en-AU" sz="6400" dirty="0">
                <a:solidFill>
                  <a:srgbClr val="FFFF00"/>
                </a:solidFill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dreamcast</a:t>
            </a:r>
            <a:r>
              <a:rPr lang="en-AU" sz="6400" dirty="0">
                <a:solidFill>
                  <a:srgbClr val="FFFF00"/>
                </a:solidFill>
              </a:rPr>
              <a:t>	sh3	Sega Dreamcast game console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epoc32	arm	32bit PSION EPOC PDA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emips</a:t>
            </a:r>
            <a:r>
              <a:rPr lang="en-AU" sz="6400" dirty="0">
                <a:solidFill>
                  <a:srgbClr val="FFFF00"/>
                </a:solidFill>
              </a:rPr>
              <a:t>	</a:t>
            </a:r>
            <a:r>
              <a:rPr lang="en-AU" sz="6400" dirty="0" err="1">
                <a:solidFill>
                  <a:srgbClr val="FFFF00"/>
                </a:solidFill>
              </a:rPr>
              <a:t>mips</a:t>
            </a:r>
            <a:r>
              <a:rPr lang="en-AU" sz="6400" dirty="0">
                <a:solidFill>
                  <a:srgbClr val="FFFF00"/>
                </a:solidFill>
              </a:rPr>
              <a:t>	Machines based on "Extensible MIPS"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evbsh3	sh3	Evaluation boards with Renesas (Hitachi) Super-H SH3 and SH4 CPUs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ews4800mips	</a:t>
            </a:r>
            <a:r>
              <a:rPr lang="en-AU" sz="6400" dirty="0" err="1">
                <a:solidFill>
                  <a:srgbClr val="FFFF00"/>
                </a:solidFill>
              </a:rPr>
              <a:t>mips</a:t>
            </a:r>
            <a:r>
              <a:rPr lang="en-AU" sz="6400" dirty="0">
                <a:solidFill>
                  <a:srgbClr val="FFFF00"/>
                </a:solidFill>
              </a:rPr>
              <a:t>	NEC's MIPS based EWS4800 workstations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2F3BED-FF49-606D-AFD2-D680ACF05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43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CB738-8591-3102-9BAA-6574EA2F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4056AC-453A-0A84-D82F-EDCE2BFE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NetBSD supported platforms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8D3E53-66C3-4FF3-339A-1229936DB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000" y="863978"/>
            <a:ext cx="9072000" cy="4022460"/>
          </a:xfrm>
        </p:spPr>
        <p:txBody>
          <a:bodyPr>
            <a:normAutofit fontScale="25000" lnSpcReduction="20000"/>
          </a:bodyPr>
          <a:lstStyle/>
          <a:p>
            <a:r>
              <a:rPr lang="en-AU" sz="9600" dirty="0">
                <a:solidFill>
                  <a:srgbClr val="FFFF00"/>
                </a:solidFill>
              </a:rPr>
              <a:t>Tier 2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Port	CPU	Machines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hp300	m68k	Hewlett-Packard 9000/300 and 400 series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hppa</a:t>
            </a:r>
            <a:r>
              <a:rPr lang="en-AU" sz="6400" dirty="0">
                <a:solidFill>
                  <a:srgbClr val="FFFF00"/>
                </a:solidFill>
              </a:rPr>
              <a:t>	</a:t>
            </a:r>
            <a:r>
              <a:rPr lang="en-AU" sz="6400" dirty="0" err="1">
                <a:solidFill>
                  <a:srgbClr val="FFFF00"/>
                </a:solidFill>
              </a:rPr>
              <a:t>hppa</a:t>
            </a:r>
            <a:r>
              <a:rPr lang="en-AU" sz="6400" dirty="0">
                <a:solidFill>
                  <a:srgbClr val="FFFF00"/>
                </a:solidFill>
              </a:rPr>
              <a:t>	Hewlett-Packard 9000/700 series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hpcmips</a:t>
            </a:r>
            <a:r>
              <a:rPr lang="en-AU" sz="6400" dirty="0">
                <a:solidFill>
                  <a:srgbClr val="FFFF00"/>
                </a:solidFill>
              </a:rPr>
              <a:t>	</a:t>
            </a:r>
            <a:r>
              <a:rPr lang="en-AU" sz="6400" dirty="0" err="1">
                <a:solidFill>
                  <a:srgbClr val="FFFF00"/>
                </a:solidFill>
              </a:rPr>
              <a:t>mips</a:t>
            </a:r>
            <a:r>
              <a:rPr lang="en-AU" sz="6400" dirty="0">
                <a:solidFill>
                  <a:srgbClr val="FFFF00"/>
                </a:solidFill>
              </a:rPr>
              <a:t>	MIPS based Windows CE PDA machines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hpcsh</a:t>
            </a:r>
            <a:r>
              <a:rPr lang="en-AU" sz="6400" dirty="0">
                <a:solidFill>
                  <a:srgbClr val="FFFF00"/>
                </a:solidFill>
              </a:rPr>
              <a:t>	sh3	Renesas (Hitachi) SH3 and SH4 based Windows CE PDA machines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ia64	</a:t>
            </a:r>
            <a:r>
              <a:rPr lang="en-AU" sz="6400" dirty="0" err="1">
                <a:solidFill>
                  <a:srgbClr val="FFFF00"/>
                </a:solidFill>
              </a:rPr>
              <a:t>itanium</a:t>
            </a:r>
            <a:r>
              <a:rPr lang="en-AU" sz="6400" dirty="0">
                <a:solidFill>
                  <a:srgbClr val="FFFF00"/>
                </a:solidFill>
              </a:rPr>
              <a:t>	Itanium family of processors	none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ibmnws</a:t>
            </a:r>
            <a:r>
              <a:rPr lang="en-AU" sz="6400" dirty="0">
                <a:solidFill>
                  <a:srgbClr val="FFFF00"/>
                </a:solidFill>
              </a:rPr>
              <a:t>	</a:t>
            </a:r>
            <a:r>
              <a:rPr lang="en-AU" sz="6400" dirty="0" err="1">
                <a:solidFill>
                  <a:srgbClr val="FFFF00"/>
                </a:solidFill>
              </a:rPr>
              <a:t>powerpc</a:t>
            </a:r>
            <a:r>
              <a:rPr lang="en-AU" sz="6400" dirty="0">
                <a:solidFill>
                  <a:srgbClr val="FFFF00"/>
                </a:solidFill>
              </a:rPr>
              <a:t>	IBM Network Station Series 1000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iyonix</a:t>
            </a:r>
            <a:r>
              <a:rPr lang="en-AU" sz="6400" dirty="0">
                <a:solidFill>
                  <a:srgbClr val="FFFF00"/>
                </a:solidFill>
              </a:rPr>
              <a:t>	arm	</a:t>
            </a:r>
            <a:r>
              <a:rPr lang="en-AU" sz="6400" dirty="0" err="1">
                <a:solidFill>
                  <a:srgbClr val="FFFF00"/>
                </a:solidFill>
              </a:rPr>
              <a:t>Iyonix</a:t>
            </a:r>
            <a:r>
              <a:rPr lang="en-AU" sz="6400" dirty="0">
                <a:solidFill>
                  <a:srgbClr val="FFFF00"/>
                </a:solidFill>
              </a:rPr>
              <a:t> ARM pc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landisk</a:t>
            </a:r>
            <a:r>
              <a:rPr lang="en-AU" sz="6400" dirty="0">
                <a:solidFill>
                  <a:srgbClr val="FFFF00"/>
                </a:solidFill>
              </a:rPr>
              <a:t>	sh3	SH4 based NAS appliances by I-O DATA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luna68k	m68k	OMRON </a:t>
            </a:r>
            <a:r>
              <a:rPr lang="en-AU" sz="6400" dirty="0" err="1">
                <a:solidFill>
                  <a:srgbClr val="FFFF00"/>
                </a:solidFill>
              </a:rPr>
              <a:t>Tateisi</a:t>
            </a:r>
            <a:r>
              <a:rPr lang="en-AU" sz="6400" dirty="0">
                <a:solidFill>
                  <a:srgbClr val="FFFF00"/>
                </a:solidFill>
              </a:rPr>
              <a:t> Electronics' LUNA series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mac68k	m68k	Apple Macintosh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macppc</a:t>
            </a:r>
            <a:r>
              <a:rPr lang="en-AU" sz="6400" dirty="0">
                <a:solidFill>
                  <a:srgbClr val="FFFF00"/>
                </a:solidFill>
              </a:rPr>
              <a:t>	</a:t>
            </a:r>
            <a:r>
              <a:rPr lang="en-AU" sz="6400" dirty="0" err="1">
                <a:solidFill>
                  <a:srgbClr val="FFFF00"/>
                </a:solidFill>
              </a:rPr>
              <a:t>powerpc</a:t>
            </a:r>
            <a:r>
              <a:rPr lang="en-AU" sz="6400" dirty="0">
                <a:solidFill>
                  <a:srgbClr val="FFFF00"/>
                </a:solidFill>
              </a:rPr>
              <a:t>	Apple Power Macintosh and clones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mipsco</a:t>
            </a:r>
            <a:r>
              <a:rPr lang="en-AU" sz="6400" dirty="0">
                <a:solidFill>
                  <a:srgbClr val="FFFF00"/>
                </a:solidFill>
              </a:rPr>
              <a:t>	</a:t>
            </a:r>
            <a:r>
              <a:rPr lang="en-AU" sz="6400" dirty="0" err="1">
                <a:solidFill>
                  <a:srgbClr val="FFFF00"/>
                </a:solidFill>
              </a:rPr>
              <a:t>mips</a:t>
            </a:r>
            <a:r>
              <a:rPr lang="en-AU" sz="6400" dirty="0">
                <a:solidFill>
                  <a:srgbClr val="FFFF00"/>
                </a:solidFill>
              </a:rPr>
              <a:t>	</a:t>
            </a:r>
            <a:r>
              <a:rPr lang="en-AU" sz="6400" dirty="0" err="1">
                <a:solidFill>
                  <a:srgbClr val="FFFF00"/>
                </a:solidFill>
              </a:rPr>
              <a:t>Mips</a:t>
            </a:r>
            <a:r>
              <a:rPr lang="en-AU" sz="6400" dirty="0">
                <a:solidFill>
                  <a:srgbClr val="FFFF00"/>
                </a:solidFill>
              </a:rPr>
              <a:t> family of workstations and servers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mmeye</a:t>
            </a:r>
            <a:r>
              <a:rPr lang="en-AU" sz="6400" dirty="0">
                <a:solidFill>
                  <a:srgbClr val="FFFF00"/>
                </a:solidFill>
              </a:rPr>
              <a:t>	sh3	Brains' </a:t>
            </a:r>
            <a:r>
              <a:rPr lang="en-AU" sz="6400" dirty="0" err="1">
                <a:solidFill>
                  <a:srgbClr val="FFFF00"/>
                </a:solidFill>
              </a:rPr>
              <a:t>mmEye</a:t>
            </a:r>
            <a:r>
              <a:rPr lang="en-AU" sz="6400" dirty="0">
                <a:solidFill>
                  <a:srgbClr val="FFFF00"/>
                </a:solidFill>
              </a:rPr>
              <a:t> Multi Media Server </a:t>
            </a:r>
          </a:p>
          <a:p>
            <a:pPr>
              <a:spcBef>
                <a:spcPts val="500"/>
              </a:spcBef>
            </a:pPr>
            <a:r>
              <a:rPr lang="en-AU" sz="6400" dirty="0">
                <a:solidFill>
                  <a:srgbClr val="FFFF00"/>
                </a:solidFill>
              </a:rPr>
              <a:t>mvme68k	m68k	Motorola MVME 68k SBCs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mvmeppc</a:t>
            </a:r>
            <a:r>
              <a:rPr lang="en-AU" sz="6400" dirty="0">
                <a:solidFill>
                  <a:srgbClr val="FFFF00"/>
                </a:solidFill>
              </a:rPr>
              <a:t>	</a:t>
            </a:r>
            <a:r>
              <a:rPr lang="en-AU" sz="6400" dirty="0" err="1">
                <a:solidFill>
                  <a:srgbClr val="FFFF00"/>
                </a:solidFill>
              </a:rPr>
              <a:t>powerpc</a:t>
            </a:r>
            <a:r>
              <a:rPr lang="en-AU" sz="6400" dirty="0">
                <a:solidFill>
                  <a:srgbClr val="FFFF00"/>
                </a:solidFill>
              </a:rPr>
              <a:t>	Motorola MVME PowerPC SBCs </a:t>
            </a:r>
          </a:p>
          <a:p>
            <a:pPr>
              <a:spcBef>
                <a:spcPts val="500"/>
              </a:spcBef>
            </a:pPr>
            <a:r>
              <a:rPr lang="en-AU" sz="6400" dirty="0" err="1">
                <a:solidFill>
                  <a:srgbClr val="FFFF00"/>
                </a:solidFill>
              </a:rPr>
              <a:t>netwinder</a:t>
            </a:r>
            <a:r>
              <a:rPr lang="en-AU" sz="6400" dirty="0">
                <a:solidFill>
                  <a:srgbClr val="FFFF00"/>
                </a:solidFill>
              </a:rPr>
              <a:t>	arm	</a:t>
            </a:r>
            <a:r>
              <a:rPr lang="en-AU" sz="6400" dirty="0" err="1">
                <a:solidFill>
                  <a:srgbClr val="FFFF00"/>
                </a:solidFill>
              </a:rPr>
              <a:t>StrongARM</a:t>
            </a:r>
            <a:r>
              <a:rPr lang="en-AU" sz="6400" dirty="0">
                <a:solidFill>
                  <a:srgbClr val="FFFF00"/>
                </a:solidFill>
              </a:rPr>
              <a:t> based </a:t>
            </a:r>
            <a:r>
              <a:rPr lang="en-AU" sz="6400" dirty="0" err="1">
                <a:solidFill>
                  <a:srgbClr val="FFFF00"/>
                </a:solidFill>
              </a:rPr>
              <a:t>NetWinder</a:t>
            </a:r>
            <a:r>
              <a:rPr lang="en-AU" sz="6400" dirty="0">
                <a:solidFill>
                  <a:srgbClr val="FFFF00"/>
                </a:solidFill>
              </a:rPr>
              <a:t> machines </a:t>
            </a:r>
          </a:p>
          <a:p>
            <a:pPr>
              <a:spcBef>
                <a:spcPts val="500"/>
              </a:spcBef>
            </a:pPr>
            <a:endParaRPr lang="en-AU" sz="6400" dirty="0">
              <a:solidFill>
                <a:srgbClr val="FFFF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F0660D-6D57-38BF-3920-78E19BBA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79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0AD23-6902-DAFC-4ABB-3D08CC7B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104A2F-9148-F2D2-F1E7-B107D668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NetBSD supported platforms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3D0D78-2649-A0B4-EE38-E8DA87706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000" y="863978"/>
            <a:ext cx="9072000" cy="4022460"/>
          </a:xfrm>
        </p:spPr>
        <p:txBody>
          <a:bodyPr>
            <a:normAutofit fontScale="25000" lnSpcReduction="20000"/>
          </a:bodyPr>
          <a:lstStyle/>
          <a:p>
            <a:r>
              <a:rPr lang="en-AU" sz="9600" dirty="0">
                <a:solidFill>
                  <a:srgbClr val="FFFF00"/>
                </a:solidFill>
              </a:rPr>
              <a:t>Tier 2</a:t>
            </a:r>
          </a:p>
          <a:p>
            <a:pPr>
              <a:spcBef>
                <a:spcPts val="500"/>
              </a:spcBef>
            </a:pPr>
            <a:r>
              <a:rPr lang="en-AU" sz="5600" dirty="0">
                <a:solidFill>
                  <a:srgbClr val="FFFF00"/>
                </a:solidFill>
              </a:rPr>
              <a:t>Port	CPU	Machines</a:t>
            </a:r>
          </a:p>
          <a:p>
            <a:pPr>
              <a:spcBef>
                <a:spcPts val="500"/>
              </a:spcBef>
            </a:pPr>
            <a:r>
              <a:rPr lang="en-AU" sz="5600" dirty="0">
                <a:solidFill>
                  <a:srgbClr val="FFFF00"/>
                </a:solidFill>
              </a:rPr>
              <a:t>news68k	m68k	Sony's m68k based "NET WORK STATION" series </a:t>
            </a:r>
          </a:p>
          <a:p>
            <a:pPr>
              <a:spcBef>
                <a:spcPts val="500"/>
              </a:spcBef>
            </a:pPr>
            <a:r>
              <a:rPr lang="en-AU" sz="5600" dirty="0" err="1">
                <a:solidFill>
                  <a:srgbClr val="FFFF00"/>
                </a:solidFill>
              </a:rPr>
              <a:t>newsmips</a:t>
            </a:r>
            <a:r>
              <a:rPr lang="en-AU" sz="5600" dirty="0">
                <a:solidFill>
                  <a:srgbClr val="FFFF00"/>
                </a:solidFill>
              </a:rPr>
              <a:t>	</a:t>
            </a:r>
            <a:r>
              <a:rPr lang="en-AU" sz="5600" dirty="0" err="1">
                <a:solidFill>
                  <a:srgbClr val="FFFF00"/>
                </a:solidFill>
              </a:rPr>
              <a:t>mips</a:t>
            </a:r>
            <a:r>
              <a:rPr lang="en-AU" sz="5600" dirty="0">
                <a:solidFill>
                  <a:srgbClr val="FFFF00"/>
                </a:solidFill>
              </a:rPr>
              <a:t>	Sony's MIPS based "NET WORK STATION" series </a:t>
            </a:r>
          </a:p>
          <a:p>
            <a:pPr>
              <a:spcBef>
                <a:spcPts val="500"/>
              </a:spcBef>
            </a:pPr>
            <a:r>
              <a:rPr lang="en-AU" sz="5600" dirty="0">
                <a:solidFill>
                  <a:srgbClr val="FFFF00"/>
                </a:solidFill>
              </a:rPr>
              <a:t>next68k	m68k	NeXT 68k 'black' hardware </a:t>
            </a:r>
          </a:p>
          <a:p>
            <a:pPr>
              <a:spcBef>
                <a:spcPts val="500"/>
              </a:spcBef>
            </a:pPr>
            <a:r>
              <a:rPr lang="en-AU" sz="5600" dirty="0" err="1">
                <a:solidFill>
                  <a:srgbClr val="FFFF00"/>
                </a:solidFill>
              </a:rPr>
              <a:t>ofppc</a:t>
            </a:r>
            <a:r>
              <a:rPr lang="en-AU" sz="5600" dirty="0">
                <a:solidFill>
                  <a:srgbClr val="FFFF00"/>
                </a:solidFill>
              </a:rPr>
              <a:t>	</a:t>
            </a:r>
            <a:r>
              <a:rPr lang="en-AU" sz="5600" dirty="0" err="1">
                <a:solidFill>
                  <a:srgbClr val="FFFF00"/>
                </a:solidFill>
              </a:rPr>
              <a:t>powerpc</a:t>
            </a:r>
            <a:r>
              <a:rPr lang="en-AU" sz="5600" dirty="0">
                <a:solidFill>
                  <a:srgbClr val="FFFF00"/>
                </a:solidFill>
              </a:rPr>
              <a:t>	Generic </a:t>
            </a:r>
            <a:r>
              <a:rPr lang="en-AU" sz="5600" dirty="0" err="1">
                <a:solidFill>
                  <a:srgbClr val="FFFF00"/>
                </a:solidFill>
              </a:rPr>
              <a:t>OpenFirmware</a:t>
            </a:r>
            <a:r>
              <a:rPr lang="en-AU" sz="5600" dirty="0">
                <a:solidFill>
                  <a:srgbClr val="FFFF00"/>
                </a:solidFill>
              </a:rPr>
              <a:t> compliant PowerPC machines </a:t>
            </a:r>
          </a:p>
          <a:p>
            <a:pPr>
              <a:spcBef>
                <a:spcPts val="500"/>
              </a:spcBef>
            </a:pPr>
            <a:r>
              <a:rPr lang="en-AU" sz="5600" dirty="0" err="1">
                <a:solidFill>
                  <a:srgbClr val="FFFF00"/>
                </a:solidFill>
              </a:rPr>
              <a:t>pmax</a:t>
            </a:r>
            <a:r>
              <a:rPr lang="en-AU" sz="5600" dirty="0">
                <a:solidFill>
                  <a:srgbClr val="FFFF00"/>
                </a:solidFill>
              </a:rPr>
              <a:t>	</a:t>
            </a:r>
            <a:r>
              <a:rPr lang="en-AU" sz="5600" dirty="0" err="1">
                <a:solidFill>
                  <a:srgbClr val="FFFF00"/>
                </a:solidFill>
              </a:rPr>
              <a:t>mips</a:t>
            </a:r>
            <a:r>
              <a:rPr lang="en-AU" sz="5600" dirty="0">
                <a:solidFill>
                  <a:srgbClr val="FFFF00"/>
                </a:solidFill>
              </a:rPr>
              <a:t>	Digital MIPS-based </a:t>
            </a:r>
            <a:r>
              <a:rPr lang="en-AU" sz="5600" dirty="0" err="1">
                <a:solidFill>
                  <a:srgbClr val="FFFF00"/>
                </a:solidFill>
              </a:rPr>
              <a:t>DECstations</a:t>
            </a:r>
            <a:r>
              <a:rPr lang="en-AU" sz="5600" dirty="0">
                <a:solidFill>
                  <a:srgbClr val="FFFF00"/>
                </a:solidFill>
              </a:rPr>
              <a:t> and </a:t>
            </a:r>
            <a:r>
              <a:rPr lang="en-AU" sz="5600" dirty="0" err="1">
                <a:solidFill>
                  <a:srgbClr val="FFFF00"/>
                </a:solidFill>
              </a:rPr>
              <a:t>DECsystems</a:t>
            </a:r>
            <a:r>
              <a:rPr lang="en-AU" sz="5600" dirty="0">
                <a:solidFill>
                  <a:srgbClr val="FFFF00"/>
                </a:solidFill>
              </a:rPr>
              <a:t> </a:t>
            </a:r>
          </a:p>
          <a:p>
            <a:pPr>
              <a:spcBef>
                <a:spcPts val="500"/>
              </a:spcBef>
            </a:pPr>
            <a:r>
              <a:rPr lang="en-AU" sz="5600" dirty="0">
                <a:solidFill>
                  <a:srgbClr val="FFFF00"/>
                </a:solidFill>
              </a:rPr>
              <a:t>prep	</a:t>
            </a:r>
            <a:r>
              <a:rPr lang="en-AU" sz="5600" dirty="0" err="1">
                <a:solidFill>
                  <a:srgbClr val="FFFF00"/>
                </a:solidFill>
              </a:rPr>
              <a:t>powerpc</a:t>
            </a:r>
            <a:r>
              <a:rPr lang="en-AU" sz="5600" dirty="0">
                <a:solidFill>
                  <a:srgbClr val="FFFF00"/>
                </a:solidFill>
              </a:rPr>
              <a:t>	</a:t>
            </a:r>
            <a:r>
              <a:rPr lang="en-AU" sz="5600" dirty="0" err="1">
                <a:solidFill>
                  <a:srgbClr val="FFFF00"/>
                </a:solidFill>
              </a:rPr>
              <a:t>PReP</a:t>
            </a:r>
            <a:r>
              <a:rPr lang="en-AU" sz="5600" dirty="0">
                <a:solidFill>
                  <a:srgbClr val="FFFF00"/>
                </a:solidFill>
              </a:rPr>
              <a:t> (PowerPC Reference Platform) and CHRP machines </a:t>
            </a:r>
          </a:p>
          <a:p>
            <a:pPr>
              <a:spcBef>
                <a:spcPts val="500"/>
              </a:spcBef>
            </a:pPr>
            <a:r>
              <a:rPr lang="en-AU" sz="5600" dirty="0" err="1">
                <a:solidFill>
                  <a:srgbClr val="FFFF00"/>
                </a:solidFill>
              </a:rPr>
              <a:t>riscv</a:t>
            </a:r>
            <a:r>
              <a:rPr lang="en-AU" sz="5600" dirty="0">
                <a:solidFill>
                  <a:srgbClr val="FFFF00"/>
                </a:solidFill>
              </a:rPr>
              <a:t>	</a:t>
            </a:r>
            <a:r>
              <a:rPr lang="en-AU" sz="5600" dirty="0" err="1">
                <a:solidFill>
                  <a:srgbClr val="FFFF00"/>
                </a:solidFill>
              </a:rPr>
              <a:t>riscv</a:t>
            </a:r>
            <a:r>
              <a:rPr lang="en-AU" sz="5600" dirty="0">
                <a:solidFill>
                  <a:srgbClr val="FFFF00"/>
                </a:solidFill>
              </a:rPr>
              <a:t>	RISC-V	none</a:t>
            </a:r>
          </a:p>
          <a:p>
            <a:pPr>
              <a:spcBef>
                <a:spcPts val="500"/>
              </a:spcBef>
            </a:pPr>
            <a:r>
              <a:rPr lang="en-AU" sz="5600" dirty="0">
                <a:solidFill>
                  <a:srgbClr val="FFFF00"/>
                </a:solidFill>
              </a:rPr>
              <a:t>rs6000	</a:t>
            </a:r>
            <a:r>
              <a:rPr lang="en-AU" sz="5600" dirty="0" err="1">
                <a:solidFill>
                  <a:srgbClr val="FFFF00"/>
                </a:solidFill>
              </a:rPr>
              <a:t>powerpc</a:t>
            </a:r>
            <a:r>
              <a:rPr lang="en-AU" sz="5600" dirty="0">
                <a:solidFill>
                  <a:srgbClr val="FFFF00"/>
                </a:solidFill>
              </a:rPr>
              <a:t>	MCA-based IBM RS/6000 workstations </a:t>
            </a:r>
          </a:p>
          <a:p>
            <a:pPr>
              <a:spcBef>
                <a:spcPts val="500"/>
              </a:spcBef>
            </a:pPr>
            <a:r>
              <a:rPr lang="en-AU" sz="5600" dirty="0" err="1">
                <a:solidFill>
                  <a:srgbClr val="FFFF00"/>
                </a:solidFill>
              </a:rPr>
              <a:t>sandpoint</a:t>
            </a:r>
            <a:r>
              <a:rPr lang="en-AU" sz="5600" dirty="0">
                <a:solidFill>
                  <a:srgbClr val="FFFF00"/>
                </a:solidFill>
              </a:rPr>
              <a:t>	</a:t>
            </a:r>
            <a:r>
              <a:rPr lang="en-AU" sz="5600" dirty="0" err="1">
                <a:solidFill>
                  <a:srgbClr val="FFFF00"/>
                </a:solidFill>
              </a:rPr>
              <a:t>powerpc</a:t>
            </a:r>
            <a:r>
              <a:rPr lang="en-AU" sz="5600" dirty="0">
                <a:solidFill>
                  <a:srgbClr val="FFFF00"/>
                </a:solidFill>
              </a:rPr>
              <a:t>	Motorola Sandpoint reference platform </a:t>
            </a:r>
          </a:p>
          <a:p>
            <a:pPr>
              <a:spcBef>
                <a:spcPts val="500"/>
              </a:spcBef>
            </a:pPr>
            <a:r>
              <a:rPr lang="en-AU" sz="5600" dirty="0" err="1">
                <a:solidFill>
                  <a:srgbClr val="FFFF00"/>
                </a:solidFill>
              </a:rPr>
              <a:t>sbmips</a:t>
            </a:r>
            <a:r>
              <a:rPr lang="en-AU" sz="5600" dirty="0">
                <a:solidFill>
                  <a:srgbClr val="FFFF00"/>
                </a:solidFill>
              </a:rPr>
              <a:t>	</a:t>
            </a:r>
            <a:r>
              <a:rPr lang="en-AU" sz="5600" dirty="0" err="1">
                <a:solidFill>
                  <a:srgbClr val="FFFF00"/>
                </a:solidFill>
              </a:rPr>
              <a:t>mips</a:t>
            </a:r>
            <a:r>
              <a:rPr lang="en-AU" sz="5600" dirty="0">
                <a:solidFill>
                  <a:srgbClr val="FFFF00"/>
                </a:solidFill>
              </a:rPr>
              <a:t>	Broadcom </a:t>
            </a:r>
            <a:r>
              <a:rPr lang="en-AU" sz="5600" dirty="0" err="1">
                <a:solidFill>
                  <a:srgbClr val="FFFF00"/>
                </a:solidFill>
              </a:rPr>
              <a:t>SiByte</a:t>
            </a:r>
            <a:r>
              <a:rPr lang="en-AU" sz="5600" dirty="0">
                <a:solidFill>
                  <a:srgbClr val="FFFF00"/>
                </a:solidFill>
              </a:rPr>
              <a:t> evaluation boards </a:t>
            </a:r>
          </a:p>
          <a:p>
            <a:pPr>
              <a:spcBef>
                <a:spcPts val="500"/>
              </a:spcBef>
            </a:pPr>
            <a:r>
              <a:rPr lang="en-AU" sz="5600" dirty="0" err="1">
                <a:solidFill>
                  <a:srgbClr val="FFFF00"/>
                </a:solidFill>
              </a:rPr>
              <a:t>sgimips</a:t>
            </a:r>
            <a:r>
              <a:rPr lang="en-AU" sz="5600" dirty="0">
                <a:solidFill>
                  <a:srgbClr val="FFFF00"/>
                </a:solidFill>
              </a:rPr>
              <a:t>	</a:t>
            </a:r>
            <a:r>
              <a:rPr lang="en-AU" sz="5600" dirty="0" err="1">
                <a:solidFill>
                  <a:srgbClr val="FFFF00"/>
                </a:solidFill>
              </a:rPr>
              <a:t>mips</a:t>
            </a:r>
            <a:r>
              <a:rPr lang="en-AU" sz="5600" dirty="0">
                <a:solidFill>
                  <a:srgbClr val="FFFF00"/>
                </a:solidFill>
              </a:rPr>
              <a:t>	Silicon Graphics' MIPS-based workstations </a:t>
            </a:r>
          </a:p>
          <a:p>
            <a:pPr>
              <a:spcBef>
                <a:spcPts val="500"/>
              </a:spcBef>
            </a:pPr>
            <a:r>
              <a:rPr lang="en-AU" sz="5600" dirty="0">
                <a:solidFill>
                  <a:srgbClr val="FFFF00"/>
                </a:solidFill>
              </a:rPr>
              <a:t>shark	arm	Digital DNARD ("shark") </a:t>
            </a:r>
          </a:p>
          <a:p>
            <a:pPr>
              <a:spcBef>
                <a:spcPts val="500"/>
              </a:spcBef>
            </a:pPr>
            <a:r>
              <a:rPr lang="en-AU" sz="5600" dirty="0" err="1">
                <a:solidFill>
                  <a:srgbClr val="FFFF00"/>
                </a:solidFill>
              </a:rPr>
              <a:t>sparc</a:t>
            </a:r>
            <a:r>
              <a:rPr lang="en-AU" sz="5600" dirty="0">
                <a:solidFill>
                  <a:srgbClr val="FFFF00"/>
                </a:solidFill>
              </a:rPr>
              <a:t>	</a:t>
            </a:r>
            <a:r>
              <a:rPr lang="en-AU" sz="5600" dirty="0" err="1">
                <a:solidFill>
                  <a:srgbClr val="FFFF00"/>
                </a:solidFill>
              </a:rPr>
              <a:t>sparc</a:t>
            </a:r>
            <a:r>
              <a:rPr lang="en-AU" sz="5600" dirty="0">
                <a:solidFill>
                  <a:srgbClr val="FFFF00"/>
                </a:solidFill>
              </a:rPr>
              <a:t>	Sun SPARC (32-bit) </a:t>
            </a:r>
          </a:p>
          <a:p>
            <a:pPr>
              <a:spcBef>
                <a:spcPts val="500"/>
              </a:spcBef>
            </a:pPr>
            <a:r>
              <a:rPr lang="en-AU" sz="5600" dirty="0">
                <a:solidFill>
                  <a:srgbClr val="FFFF00"/>
                </a:solidFill>
              </a:rPr>
              <a:t>sun2	m68k	Sun 2 </a:t>
            </a:r>
          </a:p>
          <a:p>
            <a:pPr>
              <a:spcBef>
                <a:spcPts val="500"/>
              </a:spcBef>
            </a:pPr>
            <a:r>
              <a:rPr lang="en-AU" sz="5600" dirty="0">
                <a:solidFill>
                  <a:srgbClr val="FFFF00"/>
                </a:solidFill>
              </a:rPr>
              <a:t>sun3	m68k	Sun 3 and 3x </a:t>
            </a:r>
          </a:p>
          <a:p>
            <a:pPr>
              <a:spcBef>
                <a:spcPts val="500"/>
              </a:spcBef>
            </a:pPr>
            <a:r>
              <a:rPr lang="en-AU" sz="5600" dirty="0">
                <a:solidFill>
                  <a:srgbClr val="FFFF00"/>
                </a:solidFill>
              </a:rPr>
              <a:t>vax	vax	Digital VAX </a:t>
            </a:r>
          </a:p>
          <a:p>
            <a:pPr>
              <a:spcBef>
                <a:spcPts val="500"/>
              </a:spcBef>
            </a:pPr>
            <a:r>
              <a:rPr lang="en-AU" sz="5600" dirty="0">
                <a:solidFill>
                  <a:srgbClr val="FFFF00"/>
                </a:solidFill>
              </a:rPr>
              <a:t>x68k	m68k	Sharp X680x0 series </a:t>
            </a:r>
          </a:p>
          <a:p>
            <a:pPr>
              <a:spcBef>
                <a:spcPts val="500"/>
              </a:spcBef>
            </a:pPr>
            <a:r>
              <a:rPr lang="en-AU" sz="5600" dirty="0" err="1">
                <a:solidFill>
                  <a:srgbClr val="FFFF00"/>
                </a:solidFill>
              </a:rPr>
              <a:t>zaurus</a:t>
            </a:r>
            <a:r>
              <a:rPr lang="en-AU" sz="5600" dirty="0">
                <a:solidFill>
                  <a:srgbClr val="FFFF00"/>
                </a:solidFill>
              </a:rPr>
              <a:t>	arm	Sharp C7x0/C860/C1000/C3x00 series PDA	10.1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E2E329-49E6-B3AF-5465-1F4FB11E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2CF0E67-E62B-4EB6-9729-3E73AE1196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73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B4A645-F478-FCF8-2D1E-10AF4D7A9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FreeBSD derivatives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46A1613-0687-AEFE-9576-7529868CAB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414055"/>
              </p:ext>
            </p:extLst>
          </p:nvPr>
        </p:nvGraphicFramePr>
        <p:xfrm>
          <a:off x="393951" y="907170"/>
          <a:ext cx="9205441" cy="4347656"/>
        </p:xfrm>
        <a:graphic>
          <a:graphicData uri="http://schemas.openxmlformats.org/drawingml/2006/table">
            <a:tbl>
              <a:tblPr firstRow="1" firstCol="1" bandRow="1"/>
              <a:tblGrid>
                <a:gridCol w="2435788">
                  <a:extLst>
                    <a:ext uri="{9D8B030D-6E8A-4147-A177-3AD203B41FA5}">
                      <a16:colId xmlns:a16="http://schemas.microsoft.com/office/drawing/2014/main" val="2068606732"/>
                    </a:ext>
                  </a:extLst>
                </a:gridCol>
                <a:gridCol w="6769653">
                  <a:extLst>
                    <a:ext uri="{9D8B030D-6E8A-4147-A177-3AD203B41FA5}">
                      <a16:colId xmlns:a16="http://schemas.microsoft.com/office/drawing/2014/main" val="938687681"/>
                    </a:ext>
                  </a:extLst>
                </a:gridCol>
              </a:tblGrid>
              <a:tr h="3753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 err="1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ClonOS</a:t>
                      </a:r>
                      <a:r>
                        <a:rPr lang="en-AU" sz="2000" u="none" strike="noStrike" kern="0" baseline="30000" dirty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[1]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Offers a complete web UI for easily controlling, deploying and managing FreeBSD jails, containers and Bhyve/Xen hypervisor virtual environments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595710"/>
                  </a:ext>
                </a:extLst>
              </a:tr>
              <a:tr h="2605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4" tooltip="DragonFly BSD"/>
                        </a:rPr>
                        <a:t>DragonFly 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Originally </a:t>
                      </a:r>
                      <a:r>
                        <a:rPr lang="en-AU" sz="2000" u="none" strike="noStrike" kern="0" dirty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5" tooltip="Fork (software development)"/>
                        </a:rPr>
                        <a:t>forked</a:t>
                      </a: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from FreeBSD 4.8, now developed in a different direction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291960"/>
                  </a:ext>
                </a:extLst>
              </a:tr>
              <a:tr h="145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6" tooltip="TrueNAS"/>
                        </a:rPr>
                        <a:t>TrueNAS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Previously known as FreeNAS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785025"/>
                  </a:ext>
                </a:extLst>
              </a:tr>
              <a:tr h="60498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7" tooltip="GhostBSD"/>
                        </a:rPr>
                        <a:t>GhostBSD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 err="1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GhostBSD</a:t>
                      </a: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is a FreeBSD OS distro oriented for desktops and laptops. 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127106"/>
                  </a:ext>
                </a:extLst>
              </a:tr>
              <a:tr h="3013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BF3C2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8" tooltip="HardenedBSD (page does not exist)"/>
                        </a:rPr>
                        <a:t>HardenedBSD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 err="1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HardenedBSD</a:t>
                      </a: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is a security-enhanced fork of FreeBSD. 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340858"/>
                  </a:ext>
                </a:extLst>
              </a:tr>
              <a:tr h="2605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helloSystem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 desktop system for creators that focuses on simplicity, elegance, and usability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352274"/>
                  </a:ext>
                </a:extLst>
              </a:tr>
              <a:tr h="145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9" tooltip="Junos OS"/>
                        </a:rPr>
                        <a:t>Junos OS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 Juniper routers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417469"/>
                  </a:ext>
                </a:extLst>
              </a:tr>
              <a:tr h="1456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10" tooltip="MidnightBSD"/>
                        </a:rPr>
                        <a:t>MidnightBSD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Midnight BSD forked from FreeBSD 6.1 Beta.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7456" marR="27456" marT="13728" marB="1372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188835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641EDCB-B2C4-D00E-FBCF-AFA40F316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DB52-3458-BD81-19B4-137AF0B0D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25" y="32243"/>
            <a:ext cx="9540000" cy="648000"/>
          </a:xfrm>
        </p:spPr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FreeBSD derivatives</a:t>
            </a:r>
            <a:endParaRPr lang="en-AU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DD381A4-EA21-046F-CF91-E4BAC724F0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132666"/>
              </p:ext>
            </p:extLst>
          </p:nvPr>
        </p:nvGraphicFramePr>
        <p:xfrm>
          <a:off x="233387" y="871797"/>
          <a:ext cx="9613850" cy="4726070"/>
        </p:xfrm>
        <a:graphic>
          <a:graphicData uri="http://schemas.openxmlformats.org/drawingml/2006/table">
            <a:tbl>
              <a:tblPr firstRow="1" firstCol="1" bandRow="1"/>
              <a:tblGrid>
                <a:gridCol w="1885009">
                  <a:extLst>
                    <a:ext uri="{9D8B030D-6E8A-4147-A177-3AD203B41FA5}">
                      <a16:colId xmlns:a16="http://schemas.microsoft.com/office/drawing/2014/main" val="3647095536"/>
                    </a:ext>
                  </a:extLst>
                </a:gridCol>
                <a:gridCol w="7728841">
                  <a:extLst>
                    <a:ext uri="{9D8B030D-6E8A-4147-A177-3AD203B41FA5}">
                      <a16:colId xmlns:a16="http://schemas.microsoft.com/office/drawing/2014/main" val="2030467954"/>
                    </a:ext>
                  </a:extLst>
                </a:gridCol>
              </a:tblGrid>
              <a:tr h="6266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2" tooltip="XigmaNAS"/>
                        </a:rPr>
                        <a:t>XigmaNAS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Previously known as NAS4Free, is a network-attached storage (NAS) server software. It is a continuation of the original </a:t>
                      </a:r>
                      <a:r>
                        <a:rPr lang="en-AU" sz="2000" u="none" strike="noStrike" kern="0" dirty="0" err="1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 tooltip="FreeNAS"/>
                        </a:rPr>
                        <a:t>FreeNAS</a:t>
                      </a: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code.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579262"/>
                  </a:ext>
                </a:extLst>
              </a:tr>
              <a:tr h="2432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BF3C2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4" tooltip="NomadBSD (page does not exist)"/>
                        </a:rPr>
                        <a:t>NomadBSD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Persistent live system for USB flash drives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5139"/>
                  </a:ext>
                </a:extLst>
              </a:tr>
              <a:tr h="4349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5" tooltip="OPNsense"/>
                        </a:rPr>
                        <a:t>OPNsense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 err="1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OPNsense</a:t>
                      </a: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is a FreeBSD-based firewall tailored for use as a firewall and router forked from </a:t>
                      </a:r>
                      <a:r>
                        <a:rPr lang="en-AU" sz="2000" kern="0" dirty="0" err="1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pfSense</a:t>
                      </a: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789312"/>
                  </a:ext>
                </a:extLst>
              </a:tr>
              <a:tr h="4349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 dirty="0" err="1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6" tooltip="PfSense"/>
                        </a:rPr>
                        <a:t>pfSense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pfSense is a FreeBSD-based firewall tailored for use as a firewall and router.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2573"/>
                  </a:ext>
                </a:extLst>
              </a:tr>
              <a:tr h="2432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7" tooltip="CellOS"/>
                        </a:rPr>
                        <a:t>CellOS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PlayStation 3 operating system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927172"/>
                  </a:ext>
                </a:extLst>
              </a:tr>
              <a:tr h="2432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8" tooltip="Orbis OS"/>
                        </a:rPr>
                        <a:t>Orbis OS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PlayStation 4 operating system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266659"/>
                  </a:ext>
                </a:extLst>
              </a:tr>
              <a:tr h="2432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BF3C2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9" tooltip="Zrouter (page does not exist)"/>
                        </a:rPr>
                        <a:t>Zrouter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FreeBSD based firmware for embedded devices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830172"/>
                  </a:ext>
                </a:extLst>
              </a:tr>
              <a:tr h="8183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BF3C2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10" tooltip="ULBSD (page does not exist)"/>
                        </a:rPr>
                        <a:t>ULBSD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ULBSD is a Unix-like, desktop-oriented operating system based on FreeBSD. 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9716" marR="59716" marT="29858" marB="29858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144557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9AA7F-8D1A-21F8-5E08-58705E4D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3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1284-A374-4224-12C1-C5617181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OpenBSD derivatives</a:t>
            </a:r>
            <a:endParaRPr lang="en-AU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6AD8D1FE-8A7D-BB9D-6465-770CB4562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40307"/>
              </p:ext>
            </p:extLst>
          </p:nvPr>
        </p:nvGraphicFramePr>
        <p:xfrm>
          <a:off x="90356" y="923412"/>
          <a:ext cx="9931902" cy="4570034"/>
        </p:xfrm>
        <a:graphic>
          <a:graphicData uri="http://schemas.openxmlformats.org/drawingml/2006/table">
            <a:tbl>
              <a:tblPr firstRow="1" firstCol="1" bandRow="1"/>
              <a:tblGrid>
                <a:gridCol w="2228844">
                  <a:extLst>
                    <a:ext uri="{9D8B030D-6E8A-4147-A177-3AD203B41FA5}">
                      <a16:colId xmlns:a16="http://schemas.microsoft.com/office/drawing/2014/main" val="2744294347"/>
                    </a:ext>
                  </a:extLst>
                </a:gridCol>
                <a:gridCol w="7703058">
                  <a:extLst>
                    <a:ext uri="{9D8B030D-6E8A-4147-A177-3AD203B41FA5}">
                      <a16:colId xmlns:a16="http://schemas.microsoft.com/office/drawing/2014/main" val="969848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ÆrieBSD</a:t>
                      </a:r>
                      <a:endParaRPr lang="en-AU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OpenBSD </a:t>
                      </a:r>
                      <a:r>
                        <a:rPr lang="en-AU" sz="2400" u="none" strike="noStrike" kern="0" dirty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2" tooltip="Fork (software development)"/>
                        </a:rPr>
                        <a:t>fork</a:t>
                      </a:r>
                      <a:r>
                        <a:rPr lang="en-AU" sz="24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tends to be free from GPL-licensed s/w. </a:t>
                      </a:r>
                      <a:endParaRPr lang="en-AU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3543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3" tooltip="AdJ"/>
                        </a:rPr>
                        <a:t>adJ</a:t>
                      </a:r>
                      <a:endParaRPr lang="en-AU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Distribution of OpenBSD for Spanish speakers</a:t>
                      </a:r>
                      <a:endParaRPr lang="en-AU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991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BowlFish</a:t>
                      </a:r>
                      <a:endParaRPr lang="en-AU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Customized OpenBSD installation script for embedded systems, intended to make OpenBSD fit into small media like compact flash cards.</a:t>
                      </a:r>
                      <a:endParaRPr lang="en-AU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242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BSDanywhere</a:t>
                      </a:r>
                      <a:endParaRPr lang="en-AU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 CD featuring the </a:t>
                      </a:r>
                      <a:r>
                        <a:rPr lang="en-AU" sz="24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4" tooltip="Enlightenment (software)"/>
                        </a:rPr>
                        <a:t>Enlightenment</a:t>
                      </a:r>
                      <a:r>
                        <a:rPr lang="en-AU" sz="24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DR17 window manager</a:t>
                      </a:r>
                      <a:endParaRPr lang="en-AU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716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FabBSD</a:t>
                      </a:r>
                      <a:endParaRPr lang="en-AU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OpenBSD </a:t>
                      </a:r>
                      <a:r>
                        <a:rPr lang="en-AU" sz="2400" u="none" strike="noStrike" kern="0" dirty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2" tooltip="Fork (software development)"/>
                        </a:rPr>
                        <a:t>fork</a:t>
                      </a:r>
                      <a:r>
                        <a:rPr lang="en-AU" sz="24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main application in CNC field, inactive.</a:t>
                      </a:r>
                      <a:endParaRPr lang="en-AU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412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u="none" strike="noStrike" kern="0">
                          <a:solidFill>
                            <a:srgbClr val="3366C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5" tooltip="ja:河豚板"/>
                        </a:rPr>
                        <a:t>FuguIta</a:t>
                      </a:r>
                      <a:endParaRPr lang="en-AU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4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Providing both LiveDVD and </a:t>
                      </a:r>
                      <a:r>
                        <a:rPr lang="en-AU" sz="2400" kern="0" dirty="0" err="1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LiveUSB</a:t>
                      </a:r>
                      <a:r>
                        <a:rPr lang="en-AU" sz="24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for i386/amd64/arm64. Highly customizable by user. Tracking errata on OpenBSD-stable.</a:t>
                      </a:r>
                      <a:endParaRPr lang="en-AU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737596"/>
                  </a:ext>
                </a:extLst>
              </a:tr>
            </a:tbl>
          </a:graphicData>
        </a:graphic>
      </p:graphicFrame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DB47649-00D5-ED53-E8D2-1552FD77A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7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4643-5DAD-EB24-4E18-6E6F0490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OpenBSD derivatives</a:t>
            </a:r>
            <a:endParaRPr lang="en-AU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600004-4F54-5E8C-7AFE-372967CF4E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161689"/>
              </p:ext>
            </p:extLst>
          </p:nvPr>
        </p:nvGraphicFramePr>
        <p:xfrm>
          <a:off x="144000" y="677529"/>
          <a:ext cx="9863802" cy="4881968"/>
        </p:xfrm>
        <a:graphic>
          <a:graphicData uri="http://schemas.openxmlformats.org/drawingml/2006/table">
            <a:tbl>
              <a:tblPr firstRow="1" firstCol="1" bandRow="1"/>
              <a:tblGrid>
                <a:gridCol w="1333666">
                  <a:extLst>
                    <a:ext uri="{9D8B030D-6E8A-4147-A177-3AD203B41FA5}">
                      <a16:colId xmlns:a16="http://schemas.microsoft.com/office/drawing/2014/main" val="3211701206"/>
                    </a:ext>
                  </a:extLst>
                </a:gridCol>
                <a:gridCol w="8530136">
                  <a:extLst>
                    <a:ext uri="{9D8B030D-6E8A-4147-A177-3AD203B41FA5}">
                      <a16:colId xmlns:a16="http://schemas.microsoft.com/office/drawing/2014/main" val="2106245991"/>
                    </a:ext>
                  </a:extLst>
                </a:gridCol>
              </a:tblGrid>
              <a:tr h="5611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LiveCD OpenBSD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LiveCD OpenBSD gives users a Live CD/DVD bootable distribution There are 3 flavors, one with XFCE, one with MATE desktop and one with KDE.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109229"/>
                  </a:ext>
                </a:extLst>
              </a:tr>
              <a:tr h="73288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LiveUSB OpenBSD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LiveUSB OpenBSD is a project started around 2009 for creating OpenBSD based bootable USB flash images. There are 3 variants, one with Gnome, a minimal text only version and an XFCE desktop image.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909662"/>
                  </a:ext>
                </a:extLst>
              </a:tr>
              <a:tr h="2178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 err="1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MarBSD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LiveCD of OpenBSD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106678"/>
                  </a:ext>
                </a:extLst>
              </a:tr>
              <a:tr h="5611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u="none" strike="noStrike" kern="0">
                          <a:solidFill>
                            <a:srgbClr val="BF3C2C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  <a:hlinkClick r:id="rId2" tooltip="MicroBSD (page does not exist)"/>
                        </a:rPr>
                        <a:t>MicroBSD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Fork of OpenBSD 3.0, begun in July 2002. to produce a free and fully secure, complete system, but with a small footprint.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620002"/>
                  </a:ext>
                </a:extLst>
              </a:tr>
              <a:tr h="2178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PsygNAT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Firewall and NAT router tool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799013"/>
                  </a:ext>
                </a:extLst>
              </a:tr>
              <a:tr h="3895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SecBSD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OS for cybersecurity professionals, ethical hackers, and penetration testers. Comparable to Kali Linux.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342456"/>
                  </a:ext>
                </a:extLst>
              </a:tr>
              <a:tr h="3895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SONaFR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SONaFR is a small system with router/NAT/firewalling capabilities that fits on a single floppy.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912397"/>
                  </a:ext>
                </a:extLst>
              </a:tr>
              <a:tr h="2178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UTMFW</a:t>
                      </a:r>
                      <a:endParaRPr lang="en-AU" sz="2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Successor of </a:t>
                      </a:r>
                      <a:r>
                        <a:rPr lang="en-AU" sz="2000" kern="0" dirty="0" err="1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ComixWall</a:t>
                      </a:r>
                      <a:r>
                        <a:rPr lang="en-AU" sz="2000" kern="0" dirty="0">
                          <a:solidFill>
                            <a:srgbClr val="20212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a firewall with UTM features</a:t>
                      </a:r>
                      <a:endParaRPr lang="en-AU" sz="2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479" marR="53479" marT="26739" marB="26739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077120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09CDB5-7B16-A8B2-8E07-760C842C2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80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82F87-5177-46EC-0B69-E256C4A07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Buried BSD – vendor products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F9441A-47AC-A151-D217-2D6FFB81C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0598" y="927523"/>
            <a:ext cx="4459287" cy="4508278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Beckhoff </a:t>
            </a:r>
            <a:r>
              <a:rPr lang="en-AU" sz="2000" dirty="0" err="1">
                <a:solidFill>
                  <a:srgbClr val="FFFF00"/>
                </a:solidFill>
              </a:rPr>
              <a:t>TwinCAT</a:t>
            </a:r>
            <a:r>
              <a:rPr lang="en-AU" sz="2000" dirty="0">
                <a:solidFill>
                  <a:srgbClr val="FFFF00"/>
                </a:solidFill>
              </a:rPr>
              <a:t>/BSD</a:t>
            </a: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Blue Coat Systems network appliances</a:t>
            </a:r>
          </a:p>
          <a:p>
            <a:pPr>
              <a:spcBef>
                <a:spcPts val="500"/>
              </a:spcBef>
            </a:pPr>
            <a:r>
              <a:rPr lang="en-AU" sz="2000" dirty="0" err="1">
                <a:solidFill>
                  <a:srgbClr val="FFFF00"/>
                </a:solidFill>
              </a:rPr>
              <a:t>Borderware</a:t>
            </a:r>
            <a:r>
              <a:rPr lang="en-AU" sz="2000" dirty="0">
                <a:solidFill>
                  <a:srgbClr val="FFFF00"/>
                </a:solidFill>
              </a:rPr>
              <a:t> appliances </a:t>
            </a: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Check Point IPSO security appliances</a:t>
            </a: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Citrix Systems </a:t>
            </a:r>
            <a:r>
              <a:rPr lang="en-AU" sz="2000" dirty="0" err="1">
                <a:solidFill>
                  <a:srgbClr val="FFFF00"/>
                </a:solidFill>
              </a:rPr>
              <a:t>Netscaler</a:t>
            </a:r>
            <a:r>
              <a:rPr lang="en-AU" sz="2000" dirty="0">
                <a:solidFill>
                  <a:srgbClr val="FFFF00"/>
                </a:solidFill>
              </a:rPr>
              <a:t> application delivery software</a:t>
            </a: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Coyote Point GX-series web acceleration and load balancer appliances</a:t>
            </a: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Dell Compellent enterprise storage systems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03A48F-36E4-5655-A300-6D086F1F8E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4000" y="962112"/>
            <a:ext cx="4460875" cy="3913483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Hobnob </a:t>
            </a:r>
            <a:r>
              <a:rPr lang="en-AU" sz="2000" dirty="0" err="1">
                <a:solidFill>
                  <a:srgbClr val="FFFF00"/>
                </a:solidFill>
              </a:rPr>
              <a:t>WirelessWAN</a:t>
            </a:r>
            <a:endParaRPr lang="en-AU" sz="2000" dirty="0">
              <a:solidFill>
                <a:srgbClr val="FFFF00"/>
              </a:solidFill>
            </a:endParaRP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IronPort </a:t>
            </a:r>
            <a:r>
              <a:rPr lang="en-AU" sz="2000" dirty="0" err="1">
                <a:solidFill>
                  <a:srgbClr val="FFFF00"/>
                </a:solidFill>
              </a:rPr>
              <a:t>AsyncOS</a:t>
            </a:r>
            <a:endParaRPr lang="en-AU" sz="2000" dirty="0">
              <a:solidFill>
                <a:srgbClr val="FFFF00"/>
              </a:solidFill>
            </a:endParaRP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Isilon Systems' </a:t>
            </a:r>
            <a:r>
              <a:rPr lang="en-AU" sz="2000" dirty="0" err="1">
                <a:solidFill>
                  <a:srgbClr val="FFFF00"/>
                </a:solidFill>
              </a:rPr>
              <a:t>OneFS</a:t>
            </a:r>
            <a:endParaRPr lang="en-AU" sz="2000" dirty="0">
              <a:solidFill>
                <a:srgbClr val="FFFF00"/>
              </a:solidFill>
            </a:endParaRP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Juniper Networks Junos</a:t>
            </a: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KACE </a:t>
            </a:r>
            <a:r>
              <a:rPr lang="en-AU" sz="2000" dirty="0" err="1">
                <a:solidFill>
                  <a:srgbClr val="FFFF00"/>
                </a:solidFill>
              </a:rPr>
              <a:t>Networks's</a:t>
            </a:r>
            <a:r>
              <a:rPr lang="en-AU" sz="2000" dirty="0">
                <a:solidFill>
                  <a:srgbClr val="FFFF00"/>
                </a:solidFill>
              </a:rPr>
              <a:t> KBOX 1000 &amp; 2000 Series Appliances and the Virtual KBOX Appliance</a:t>
            </a: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Lynx Software Technologies LynxOS</a:t>
            </a:r>
          </a:p>
          <a:p>
            <a:pPr>
              <a:spcBef>
                <a:spcPts val="500"/>
              </a:spcBef>
            </a:pPr>
            <a:r>
              <a:rPr lang="en-AU" sz="2000" dirty="0">
                <a:solidFill>
                  <a:srgbClr val="FFFF00"/>
                </a:solidFill>
              </a:rPr>
              <a:t>McAfee </a:t>
            </a:r>
            <a:r>
              <a:rPr lang="en-AU" sz="2000" dirty="0" err="1">
                <a:solidFill>
                  <a:srgbClr val="FFFF00"/>
                </a:solidFill>
              </a:rPr>
              <a:t>SecurOS</a:t>
            </a:r>
            <a:endParaRPr lang="en-AU" sz="2000" dirty="0">
              <a:solidFill>
                <a:srgbClr val="FFFF00"/>
              </a:solidFill>
            </a:endParaRPr>
          </a:p>
          <a:p>
            <a:endParaRPr lang="en-AU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46C73-0108-FF86-4131-16871C61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851724-9B84-4729-B93B-118CC2F5219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285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5CBA-A6F1-534C-8B42-9B807679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Buried BSD – vendor products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DF7D6-32E5-AE12-CEDF-518265C730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NetApp filers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Netflix Open Connect appliances</a:t>
            </a:r>
          </a:p>
          <a:p>
            <a:pPr>
              <a:spcBef>
                <a:spcPts val="500"/>
              </a:spcBef>
            </a:pPr>
            <a:r>
              <a:rPr lang="en-AU" dirty="0" err="1">
                <a:solidFill>
                  <a:srgbClr val="FFFF00"/>
                </a:solidFill>
              </a:rPr>
              <a:t>Panasas</a:t>
            </a:r>
            <a:r>
              <a:rPr lang="en-AU" dirty="0">
                <a:solidFill>
                  <a:srgbClr val="FFFF00"/>
                </a:solidFill>
              </a:rPr>
              <a:t> parallel network storage systems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Panasonic Viera TV receivers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QNAP's QES operating system</a:t>
            </a:r>
          </a:p>
          <a:p>
            <a:pPr>
              <a:spcBef>
                <a:spcPts val="500"/>
              </a:spcBef>
            </a:pPr>
            <a:r>
              <a:rPr lang="en-AU" dirty="0" err="1">
                <a:solidFill>
                  <a:srgbClr val="FFFF00"/>
                </a:solidFill>
              </a:rPr>
              <a:t>Sandvine's</a:t>
            </a:r>
            <a:r>
              <a:rPr lang="en-AU" dirty="0">
                <a:solidFill>
                  <a:srgbClr val="FFFF00"/>
                </a:solidFill>
              </a:rPr>
              <a:t> network policy control products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Silicon Graphics Int’l </a:t>
            </a:r>
            <a:r>
              <a:rPr lang="en-AU" dirty="0" err="1">
                <a:solidFill>
                  <a:srgbClr val="FFFF00"/>
                </a:solidFill>
              </a:rPr>
              <a:t>ArcFiniti</a:t>
            </a:r>
            <a:r>
              <a:rPr lang="en-AU" dirty="0">
                <a:solidFill>
                  <a:srgbClr val="FFFF00"/>
                </a:solidFill>
              </a:rPr>
              <a:t> MAID disk arrays</a:t>
            </a:r>
          </a:p>
          <a:p>
            <a:endParaRPr lang="en-AU" dirty="0">
              <a:solidFill>
                <a:srgbClr val="FFFF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67E58D-4D5E-CDA4-72FB-3BF731AF2D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Sony Computer Entertainment's PlayStation 3, 4 and  Vita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Sophos Email Appliance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Spectra Logic </a:t>
            </a:r>
            <a:r>
              <a:rPr lang="en-AU" dirty="0" err="1">
                <a:solidFill>
                  <a:srgbClr val="FFFF00"/>
                </a:solidFill>
              </a:rPr>
              <a:t>nTier</a:t>
            </a:r>
            <a:r>
              <a:rPr lang="en-AU" dirty="0">
                <a:solidFill>
                  <a:srgbClr val="FFFF00"/>
                </a:solidFill>
              </a:rPr>
              <a:t> Verde backup appliances</a:t>
            </a:r>
          </a:p>
          <a:p>
            <a:pPr>
              <a:spcBef>
                <a:spcPts val="500"/>
              </a:spcBef>
            </a:pPr>
            <a:r>
              <a:rPr lang="en-AU" dirty="0" err="1">
                <a:solidFill>
                  <a:srgbClr val="FFFF00"/>
                </a:solidFill>
              </a:rPr>
              <a:t>Symmetricom</a:t>
            </a:r>
            <a:r>
              <a:rPr lang="en-AU" dirty="0">
                <a:solidFill>
                  <a:srgbClr val="FFFF00"/>
                </a:solidFill>
              </a:rPr>
              <a:t> Timing Solutions</a:t>
            </a:r>
          </a:p>
          <a:p>
            <a:pPr>
              <a:spcBef>
                <a:spcPts val="500"/>
              </a:spcBef>
            </a:pPr>
            <a:r>
              <a:rPr lang="en-AU" dirty="0">
                <a:solidFill>
                  <a:srgbClr val="FFFF00"/>
                </a:solidFill>
              </a:rPr>
              <a:t>The Weather Channel's </a:t>
            </a:r>
            <a:r>
              <a:rPr lang="en-AU" dirty="0" err="1">
                <a:solidFill>
                  <a:srgbClr val="FFFF00"/>
                </a:solidFill>
              </a:rPr>
              <a:t>IntelliStar</a:t>
            </a:r>
            <a:r>
              <a:rPr lang="en-AU" dirty="0">
                <a:solidFill>
                  <a:srgbClr val="FFFF00"/>
                </a:solidFill>
              </a:rPr>
              <a:t> local forecast computer</a:t>
            </a:r>
          </a:p>
          <a:p>
            <a:pPr>
              <a:spcBef>
                <a:spcPts val="500"/>
              </a:spcBef>
            </a:pPr>
            <a:r>
              <a:rPr lang="en-AU" dirty="0" err="1">
                <a:solidFill>
                  <a:srgbClr val="FFFF00"/>
                </a:solidFill>
              </a:rPr>
              <a:t>Xinuos</a:t>
            </a:r>
            <a:r>
              <a:rPr lang="en-AU" dirty="0">
                <a:solidFill>
                  <a:srgbClr val="FFFF00"/>
                </a:solidFill>
              </a:rPr>
              <a:t> </a:t>
            </a:r>
            <a:r>
              <a:rPr lang="en-AU" dirty="0" err="1">
                <a:solidFill>
                  <a:srgbClr val="FFFF00"/>
                </a:solidFill>
              </a:rPr>
              <a:t>OpenServer</a:t>
            </a:r>
            <a:r>
              <a:rPr lang="en-AU" dirty="0">
                <a:solidFill>
                  <a:srgbClr val="FFFF00"/>
                </a:solidFill>
              </a:rPr>
              <a:t> 10</a:t>
            </a:r>
          </a:p>
          <a:p>
            <a:endParaRPr lang="en-AU" dirty="0">
              <a:solidFill>
                <a:srgbClr val="FFFF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A134C-4E0F-4A75-A998-5EBBE85D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851724-9B84-4729-B93B-118CC2F5219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8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5BC50-8AE5-1C59-5A9E-747A1D7706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Focus on FreeBSD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DF91E7E-B201-FE53-191E-077A02747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89149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BB91-82E7-C9F1-6940-8C6428646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30C73-EB21-70AD-D194-EBDA30F7A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F48D6-7638-7838-1E92-903C2EAE9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40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09997E-B741-604B-F886-67B50146C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95"/>
            <a:ext cx="10080625" cy="563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647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8093-7E87-B88D-5AE2-931A4AECC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ECB90-4EA6-468E-6C93-E401D0FD6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A812E-C65D-B6CF-6805-2BD0EBE86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35" y="0"/>
            <a:ext cx="9470555" cy="56705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E085B-45D2-FDA2-DF11-2965336A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050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84174-994B-BF5A-C18C-C33DE7022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81176-41FC-22C0-A55C-6F88151B1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C8CF4-381E-D0E6-5266-A038000A0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27EE42-F135-38CD-5FD7-E70C43DE1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813"/>
            <a:ext cx="10080625" cy="541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7705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9BA7-B0C9-80D5-5A5D-5F1FFE98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Primary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CDF51-AD8A-0632-8356-134D54AF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Security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Services designed for minimal privilege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Single repository, single project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Security Team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 err="1">
                <a:solidFill>
                  <a:srgbClr val="FFFF00"/>
                </a:solidFill>
              </a:rPr>
              <a:t>Perfomance</a:t>
            </a:r>
            <a:endParaRPr lang="en-AU" dirty="0">
              <a:solidFill>
                <a:srgbClr val="FFFF00"/>
              </a:solidFill>
            </a:endParaRP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Lightweight and scalable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ZFS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TCP/IP stack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Stability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Complete o/s, kernel, device drivers, userland and documentation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9011E-056F-453B-98BC-0817E04F5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7489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E8E5BD-5995-B9FE-D264-28115E4C0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FreeBSD Release Strategy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7F4218-8AC9-A1E5-D8E7-B7557C908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RELEASE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Production ready fully supported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STABLE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Weekly snapshots of pre-release images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CURRENT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Weekly snapshots testing bleeding edge development</a:t>
            </a:r>
          </a:p>
          <a:p>
            <a:endParaRPr lang="en-AU" dirty="0">
              <a:solidFill>
                <a:srgbClr val="FFFF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6150D-A444-BEC5-CED9-29D45788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08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CAA49-D937-FC4F-5123-D07327AD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Booting install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9A930-A3B8-9332-581B-58738CAB5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 descr="FreeBSD boot loader menu">
            <a:extLst>
              <a:ext uri="{FF2B5EF4-FFF2-40B4-BE49-F238E27FC236}">
                <a16:creationId xmlns:a16="http://schemas.microsoft.com/office/drawing/2014/main" id="{0645A6FE-73DD-7B12-A134-09370BB11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23" y="876386"/>
            <a:ext cx="7753558" cy="430753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A6B72C-2C7E-3E65-A749-82E21E9FC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016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B74B1-4974-6CDC-9FEE-2EA39864A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09F1-715A-9E79-8565-A6CE317A0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 descr="FreeBSD installation welcome menu">
            <a:extLst>
              <a:ext uri="{FF2B5EF4-FFF2-40B4-BE49-F238E27FC236}">
                <a16:creationId xmlns:a16="http://schemas.microsoft.com/office/drawing/2014/main" id="{752C44FD-C2BB-B813-F14F-89EE1BBA2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57" y="881140"/>
            <a:ext cx="7808328" cy="432711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97CEA3-1B36-E31B-F441-4F9DBAC43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504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6260-1CD9-6175-BA8F-D1928EC3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C2643-8834-54FB-A813-B3A70655D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 descr="Shows the different partition options. Example: Manual">
            <a:extLst>
              <a:ext uri="{FF2B5EF4-FFF2-40B4-BE49-F238E27FC236}">
                <a16:creationId xmlns:a16="http://schemas.microsoft.com/office/drawing/2014/main" id="{1C61ECC6-4633-EFA9-AC0D-89CA24F8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91" y="876379"/>
            <a:ext cx="7809894" cy="433883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81213-86C8-699A-1006-4A027F51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239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8604-E85C-E144-B780-C35A941BE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Tweek security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B7E17-1DBF-C57C-146E-5EB542FD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 descr="Menu shoring the different hardening security options.">
            <a:extLst>
              <a:ext uri="{FF2B5EF4-FFF2-40B4-BE49-F238E27FC236}">
                <a16:creationId xmlns:a16="http://schemas.microsoft.com/office/drawing/2014/main" id="{4C183C3B-F80A-2DDC-778D-9D0D5C528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16" y="882071"/>
            <a:ext cx="7786078" cy="4308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F30E2-79F3-BEB6-AA39-78938125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776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9D52-AE42-52AC-DEC2-47D0EC8D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Adding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0BD84-C57C-47BE-F190-7126E2F0F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>
                <a:solidFill>
                  <a:srgbClr val="FFFF00"/>
                </a:solidFill>
              </a:rPr>
              <a:t>Two main methods exist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Packages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Very similar to Linux rpm, apt etc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Binary code along with whatever else is needed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Ports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Facility to compile from source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Includes linkages to dependencies etc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Allows customisation for the target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D34C2-CE83-5B95-18B6-EE1A1AC39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398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22ED-E031-CD75-AFE8-ABA71EAF1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Send ‘</a:t>
            </a:r>
            <a:r>
              <a:rPr lang="en-AU" dirty="0" err="1">
                <a:solidFill>
                  <a:srgbClr val="FFFF00"/>
                </a:solidFill>
              </a:rPr>
              <a:t>em</a:t>
            </a:r>
            <a:r>
              <a:rPr lang="en-AU" dirty="0">
                <a:solidFill>
                  <a:srgbClr val="FFFF00"/>
                </a:solidFill>
              </a:rPr>
              <a:t> to Jail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03063-8F83-AEAF-FA8F-1C117B97F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AU" dirty="0">
                <a:solidFill>
                  <a:srgbClr val="FFFF00"/>
                </a:solidFill>
              </a:rPr>
              <a:t>Expands on chroot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Thick Jail – a complete fresh, separate base system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High isolation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Independent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Secure</a:t>
            </a:r>
          </a:p>
          <a:p>
            <a:pPr marL="457200" indent="-457200"/>
            <a:r>
              <a:rPr lang="en-AU" dirty="0">
                <a:solidFill>
                  <a:srgbClr val="FFFF00"/>
                </a:solidFill>
              </a:rPr>
              <a:t>But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High resource overhead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Individual </a:t>
            </a:r>
            <a:r>
              <a:rPr lang="en-AU" dirty="0" err="1">
                <a:solidFill>
                  <a:srgbClr val="FFFF00"/>
                </a:solidFill>
              </a:rPr>
              <a:t>maintennce</a:t>
            </a:r>
            <a:endParaRPr lang="en-AU" dirty="0">
              <a:solidFill>
                <a:srgbClr val="FFFF00"/>
              </a:solidFill>
            </a:endParaRPr>
          </a:p>
          <a:p>
            <a:pPr marL="457200" indent="-457200"/>
            <a:endParaRPr lang="en-AU" dirty="0">
              <a:solidFill>
                <a:srgbClr val="FFFF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5C6AC-CC73-5182-30E6-092CEF347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822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F8671-6000-BE8F-C6A2-ADD80D1CD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AC29-2C9E-B105-07CE-0374A0B7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Send ‘</a:t>
            </a:r>
            <a:r>
              <a:rPr lang="en-AU" dirty="0" err="1">
                <a:solidFill>
                  <a:srgbClr val="FFFF00"/>
                </a:solidFill>
              </a:rPr>
              <a:t>em</a:t>
            </a:r>
            <a:r>
              <a:rPr lang="en-AU" dirty="0">
                <a:solidFill>
                  <a:srgbClr val="FFFF00"/>
                </a:solidFill>
              </a:rPr>
              <a:t> to Jail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812E-C745-EC34-F2F5-AD6E71D75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Thin Jail – a minimal subset, separate base system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Resource efficiency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Rapid deployment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Unified maintenance</a:t>
            </a:r>
          </a:p>
          <a:p>
            <a:pPr marL="457200" indent="-457200"/>
            <a:r>
              <a:rPr lang="en-AU" dirty="0">
                <a:solidFill>
                  <a:srgbClr val="FFFF00"/>
                </a:solidFill>
              </a:rPr>
              <a:t>But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Reduced isolation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Some security concerns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Dependency conflicts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1D165-B477-EE81-0009-AA7E51F9F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6834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3F31-C211-3DCC-DD8A-25BC5944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567F3-47CF-269E-830A-2FF988BB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Send ‘</a:t>
            </a:r>
            <a:r>
              <a:rPr lang="en-AU" dirty="0" err="1">
                <a:solidFill>
                  <a:srgbClr val="FFFF00"/>
                </a:solidFill>
              </a:rPr>
              <a:t>em</a:t>
            </a:r>
            <a:r>
              <a:rPr lang="en-AU" dirty="0">
                <a:solidFill>
                  <a:srgbClr val="FFFF00"/>
                </a:solidFill>
              </a:rPr>
              <a:t> to Jail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E97D1-7E17-D3AA-0404-4FD6A8CE9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Service jails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Linux jails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 err="1">
                <a:solidFill>
                  <a:srgbClr val="FFFF00"/>
                </a:solidFill>
              </a:rPr>
              <a:t>Vnet</a:t>
            </a:r>
            <a:r>
              <a:rPr lang="en-AU" dirty="0">
                <a:solidFill>
                  <a:srgbClr val="FFFF00"/>
                </a:solidFill>
              </a:rPr>
              <a:t> jails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FBA9D-A9E9-DFCA-E85D-67A84D59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431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26F7-D45D-BF3C-93EA-5E4611A6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The Z File System - ZFS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3F593-2C23-D8DA-EAE6-B9D202621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>
                <a:solidFill>
                  <a:srgbClr val="FFFF00"/>
                </a:solidFill>
              </a:rPr>
              <a:t>Developed at Sun, now the </a:t>
            </a:r>
            <a:r>
              <a:rPr lang="en-AU" dirty="0" err="1">
                <a:solidFill>
                  <a:srgbClr val="FFFF00"/>
                </a:solidFill>
              </a:rPr>
              <a:t>OpenZFS</a:t>
            </a:r>
            <a:r>
              <a:rPr lang="en-AU" dirty="0">
                <a:solidFill>
                  <a:srgbClr val="FFFF00"/>
                </a:solidFill>
              </a:rPr>
              <a:t> project</a:t>
            </a:r>
          </a:p>
          <a:p>
            <a:r>
              <a:rPr lang="en-AU" dirty="0">
                <a:solidFill>
                  <a:srgbClr val="FFFF00"/>
                </a:solidFill>
              </a:rPr>
              <a:t>Natively integrated into FreeBSD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Data integrity – checksums all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Pooled storage – can add fresh physical storage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High performance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memory based read cache - ARC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2</a:t>
            </a:r>
            <a:r>
              <a:rPr lang="en-AU" baseline="30000" dirty="0">
                <a:solidFill>
                  <a:srgbClr val="FFFF00"/>
                </a:solidFill>
              </a:rPr>
              <a:t>nd</a:t>
            </a:r>
            <a:r>
              <a:rPr lang="en-AU" dirty="0">
                <a:solidFill>
                  <a:srgbClr val="FFFF00"/>
                </a:solidFill>
              </a:rPr>
              <a:t> level disk based read cache – L2ARC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Disk based synchronous write cache - ZIL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B20D1-B894-5303-EF44-A8C1C5C18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935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017AF-5F77-2FC4-9533-078306511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DBE7-D220-B068-00E4-1C955995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ZFS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4C28C-E8FD-2024-D7AA-15BF6DE4D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dirty="0">
                <a:solidFill>
                  <a:srgbClr val="FFFF00"/>
                </a:solidFill>
              </a:rPr>
              <a:t>Supports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Compression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Encryption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Deduplication</a:t>
            </a:r>
          </a:p>
          <a:p>
            <a:r>
              <a:rPr lang="en-AU" dirty="0">
                <a:solidFill>
                  <a:srgbClr val="FFFF00"/>
                </a:solidFill>
              </a:rPr>
              <a:t>But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Memory intensive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Suggests 1GB ram for each 1TB of storage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E6E97-A3AB-1C8D-6F58-398790E7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748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D282-18CD-5E65-3E61-402E8BB68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Customise at will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A7C90-6FB0-2431-34B5-2A8FCB495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Add “</a:t>
            </a:r>
            <a:r>
              <a:rPr lang="en-AU" dirty="0" err="1">
                <a:solidFill>
                  <a:srgbClr val="FFFF00"/>
                </a:solidFill>
              </a:rPr>
              <a:t>src</a:t>
            </a:r>
            <a:r>
              <a:rPr lang="en-AU" dirty="0">
                <a:solidFill>
                  <a:srgbClr val="FFFF00"/>
                </a:solidFill>
              </a:rPr>
              <a:t>” during installation</a:t>
            </a:r>
          </a:p>
          <a:p>
            <a:r>
              <a:rPr lang="en-AU" dirty="0">
                <a:solidFill>
                  <a:srgbClr val="FFFF00"/>
                </a:solidFill>
              </a:rPr>
              <a:t>cd /</a:t>
            </a:r>
            <a:r>
              <a:rPr lang="en-AU" dirty="0" err="1">
                <a:solidFill>
                  <a:srgbClr val="FFFF00"/>
                </a:solidFill>
              </a:rPr>
              <a:t>usr</a:t>
            </a:r>
            <a:r>
              <a:rPr lang="en-AU" dirty="0">
                <a:solidFill>
                  <a:srgbClr val="FFFF00"/>
                </a:solidFill>
              </a:rPr>
              <a:t>/</a:t>
            </a:r>
            <a:r>
              <a:rPr lang="en-AU" dirty="0" err="1">
                <a:solidFill>
                  <a:srgbClr val="FFFF00"/>
                </a:solidFill>
              </a:rPr>
              <a:t>src</a:t>
            </a:r>
            <a:r>
              <a:rPr lang="en-AU" dirty="0">
                <a:solidFill>
                  <a:srgbClr val="FFFF00"/>
                </a:solidFill>
              </a:rPr>
              <a:t>/sys/config</a:t>
            </a:r>
          </a:p>
          <a:p>
            <a:r>
              <a:rPr lang="en-AU" dirty="0">
                <a:solidFill>
                  <a:srgbClr val="FFFF00"/>
                </a:solidFill>
              </a:rPr>
              <a:t>cp GENERIC MYKERNEL</a:t>
            </a:r>
          </a:p>
          <a:p>
            <a:r>
              <a:rPr lang="en-AU" dirty="0">
                <a:solidFill>
                  <a:srgbClr val="FFFF00"/>
                </a:solidFill>
              </a:rPr>
              <a:t>vi MYKERNEL       (emacs if you must)</a:t>
            </a:r>
          </a:p>
          <a:p>
            <a:r>
              <a:rPr lang="en-AU" dirty="0">
                <a:solidFill>
                  <a:srgbClr val="FFFF00"/>
                </a:solidFill>
              </a:rPr>
              <a:t>make config; make; make install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066E1-7F59-3798-6377-FB9E056D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594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D2BF0-2051-937F-B472-C793B80AE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Why would I care?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8600106-CDF7-41CA-D269-F8EFB752A3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1634100"/>
            <a:ext cx="3400031" cy="203867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5DAF106-2C45-0909-4D43-C073AB76C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70821" y="1327150"/>
            <a:ext cx="5404979" cy="3287713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Robust service platform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Web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Mail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Firewall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NAS / storage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Networking platform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Routing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VPN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IPSEC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Daily driver if doing more than just office knowledge worker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08284-867A-4C8E-6414-8F43E0AC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268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1A40-96DD-2AB6-690E-DB33E44D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Why would I care?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CA7C156-80E9-7D62-145E-0A78719581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238" y="1521738"/>
            <a:ext cx="3669607" cy="238524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0B5F02D-31EC-B731-AECA-958F48F96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2619" y="1327150"/>
            <a:ext cx="5253182" cy="32877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Security is #1 focus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Security services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Firewall</a:t>
            </a:r>
          </a:p>
          <a:p>
            <a:pPr marL="1143000" lvl="1" indent="-457200"/>
            <a:r>
              <a:rPr lang="en-AU" dirty="0">
                <a:solidFill>
                  <a:srgbClr val="FFFF00"/>
                </a:solidFill>
              </a:rPr>
              <a:t>VPN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 err="1">
                <a:solidFill>
                  <a:srgbClr val="FFFF00"/>
                </a:solidFill>
              </a:rPr>
              <a:t>ksh</a:t>
            </a:r>
            <a:r>
              <a:rPr lang="en-AU" dirty="0">
                <a:solidFill>
                  <a:srgbClr val="FFFF00"/>
                </a:solidFill>
              </a:rPr>
              <a:t> fan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60677-02A3-A017-15B9-D9EA943A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490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1221-1617-0A59-C901-153A3351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Why would I care?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45EFF9-3613-1897-B055-EEEE46798B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04" y="1952250"/>
            <a:ext cx="2540579" cy="194354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4F5EBD-62B5-EB4E-F7C1-743A2A644C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1813" y="1327150"/>
            <a:ext cx="5863987" cy="328771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Support an odd CPU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Bring </a:t>
            </a:r>
            <a:r>
              <a:rPr lang="en-AU" dirty="0" err="1">
                <a:solidFill>
                  <a:srgbClr val="FFFF00"/>
                </a:solidFill>
              </a:rPr>
              <a:t>unix</a:t>
            </a:r>
            <a:r>
              <a:rPr lang="en-AU" dirty="0">
                <a:solidFill>
                  <a:srgbClr val="FFFF00"/>
                </a:solidFill>
              </a:rPr>
              <a:t> like o/s to an embedded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dirty="0">
              <a:solidFill>
                <a:srgbClr val="FFFF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dirty="0">
                <a:solidFill>
                  <a:srgbClr val="FFFF00"/>
                </a:solidFill>
              </a:rPr>
              <a:t>Dare to be different?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6F093-0304-057D-0610-B95697E9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252BC2-CEE5-4523-B57D-B36A94B8403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9314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DCA2DA2-CD4E-135A-B391-DD3AE3DD7D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Give a BSD a go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873086D-1722-449E-1D60-015E2806B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072120"/>
            <a:ext cx="7559675" cy="1370013"/>
          </a:xfrm>
        </p:spPr>
        <p:txBody>
          <a:bodyPr/>
          <a:lstStyle/>
          <a:p>
            <a:r>
              <a:rPr lang="en-AU" dirty="0">
                <a:solidFill>
                  <a:srgbClr val="FFFF00"/>
                </a:solidFill>
              </a:rPr>
              <a:t>Expand your horizons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C7668-49FD-9DDD-BBA0-A6FD0C0CE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7851724-9B84-4729-B93B-118CC2F5219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79541"/>
      </p:ext>
    </p:extLst>
  </p:cSld>
  <p:clrMapOvr>
    <a:masterClrMapping/>
  </p:clrMapOvr>
</p:sld>
</file>

<file path=ppt/theme/theme1.xml><?xml version="1.0" encoding="utf-8"?>
<a:theme xmlns:a="http://schemas.openxmlformats.org/drawingml/2006/main" name="One Colum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wo column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itle and Conten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7906</TotalTime>
  <Words>2578</Words>
  <Application>Microsoft Office PowerPoint</Application>
  <PresentationFormat>Widescreen</PresentationFormat>
  <Paragraphs>521</Paragraphs>
  <Slides>59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Aptos</vt:lpstr>
      <vt:lpstr>Arial</vt:lpstr>
      <vt:lpstr>Calibri</vt:lpstr>
      <vt:lpstr>Liberation Sans</vt:lpstr>
      <vt:lpstr>Times New Roman</vt:lpstr>
      <vt:lpstr>One Column</vt:lpstr>
      <vt:lpstr>Two columns</vt:lpstr>
      <vt:lpstr>Title and Content</vt:lpstr>
      <vt:lpstr>Default</vt:lpstr>
      <vt:lpstr>What is BSD?</vt:lpstr>
      <vt:lpstr>Who Am I?</vt:lpstr>
      <vt:lpstr>Some UNIX history</vt:lpstr>
      <vt:lpstr>PowerPoint Presentation</vt:lpstr>
      <vt:lpstr>PowerPoint Presentation</vt:lpstr>
      <vt:lpstr>Some UNIX history</vt:lpstr>
      <vt:lpstr>Some UNIX history</vt:lpstr>
      <vt:lpstr>Some UNIX history</vt:lpstr>
      <vt:lpstr>Australian involvement?</vt:lpstr>
      <vt:lpstr>UNSW</vt:lpstr>
      <vt:lpstr>Australian Unix Users Group - AUUG</vt:lpstr>
      <vt:lpstr>Australian Unix Users Group - AUUG</vt:lpstr>
      <vt:lpstr>Lions caused chaos</vt:lpstr>
      <vt:lpstr>A legal version</vt:lpstr>
      <vt:lpstr>2006 sponsored by alumni</vt:lpstr>
      <vt:lpstr>University of Wollongong</vt:lpstr>
      <vt:lpstr>University of Wollongong</vt:lpstr>
      <vt:lpstr>University of Calironia, Berkeley -UCB</vt:lpstr>
      <vt:lpstr>BSD evolution</vt:lpstr>
      <vt:lpstr>1980s – UNIX commercialisation</vt:lpstr>
      <vt:lpstr>Possibly first microcomputer port</vt:lpstr>
      <vt:lpstr>Lawyers at 30 paces</vt:lpstr>
      <vt:lpstr>Berkeley exits stage left</vt:lpstr>
      <vt:lpstr>BSD Development moves forward</vt:lpstr>
      <vt:lpstr>The first BSDs</vt:lpstr>
      <vt:lpstr>The first BSDs</vt:lpstr>
      <vt:lpstr>FreeBSD supported platforms</vt:lpstr>
      <vt:lpstr>OpenBSD supported platforms</vt:lpstr>
      <vt:lpstr>NetBSD supported platforms</vt:lpstr>
      <vt:lpstr>NetBSD supported platforms</vt:lpstr>
      <vt:lpstr>NetBSD supported platforms</vt:lpstr>
      <vt:lpstr>NetBSD supported platforms</vt:lpstr>
      <vt:lpstr>FreeBSD derivatives</vt:lpstr>
      <vt:lpstr>FreeBSD derivatives</vt:lpstr>
      <vt:lpstr>OpenBSD derivatives</vt:lpstr>
      <vt:lpstr>OpenBSD derivatives</vt:lpstr>
      <vt:lpstr>Buried BSD – vendor products</vt:lpstr>
      <vt:lpstr>Buried BSD – vendor products</vt:lpstr>
      <vt:lpstr>Focus on FreeBSD</vt:lpstr>
      <vt:lpstr>PowerPoint Presentation</vt:lpstr>
      <vt:lpstr>PowerPoint Presentation</vt:lpstr>
      <vt:lpstr>PowerPoint Presentation</vt:lpstr>
      <vt:lpstr>Primary features</vt:lpstr>
      <vt:lpstr>FreeBSD Release Strategy</vt:lpstr>
      <vt:lpstr>Booting install media</vt:lpstr>
      <vt:lpstr>PowerPoint Presentation</vt:lpstr>
      <vt:lpstr>PowerPoint Presentation</vt:lpstr>
      <vt:lpstr>Tweek security settings</vt:lpstr>
      <vt:lpstr>Adding applications</vt:lpstr>
      <vt:lpstr>Send ‘em to Jail</vt:lpstr>
      <vt:lpstr>Send ‘em to Jail</vt:lpstr>
      <vt:lpstr>Send ‘em to Jail</vt:lpstr>
      <vt:lpstr>The Z File System - ZFS</vt:lpstr>
      <vt:lpstr>ZFS</vt:lpstr>
      <vt:lpstr>Customise at will</vt:lpstr>
      <vt:lpstr>Why would I care?</vt:lpstr>
      <vt:lpstr>Why would I care?</vt:lpstr>
      <vt:lpstr>Why would I care?</vt:lpstr>
      <vt:lpstr>Give a BSD a go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</dc:title>
  <dc:creator>Peter Sandilands</dc:creator>
  <dc:description>This work is licensed under a Creative Commons 0 License.
It makes use of the works of Mateus Machado Luna.</dc:description>
  <cp:lastModifiedBy>Peter Sandilands</cp:lastModifiedBy>
  <cp:revision>37</cp:revision>
  <dcterms:created xsi:type="dcterms:W3CDTF">2026-07-05T17:38:27Z</dcterms:created>
  <dcterms:modified xsi:type="dcterms:W3CDTF">2026-07-13T06:44:27Z</dcterms:modified>
</cp:coreProperties>
</file>